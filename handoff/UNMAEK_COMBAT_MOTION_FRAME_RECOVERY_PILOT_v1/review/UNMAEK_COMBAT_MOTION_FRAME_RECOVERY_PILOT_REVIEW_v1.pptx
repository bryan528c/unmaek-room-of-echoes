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87603c920c488a" /><Relationship Type="http://schemas.openxmlformats.org/officeDocument/2006/relationships/extended-properties" Target="/docProps/app.xml" Id="R8e4943d77ba24ab4" /><Relationship Type="http://schemas.openxmlformats.org/officeDocument/2006/relationships/officeDocument" Target="/ppt/presentation.xml" Id="R9d8edce3180446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bfa3e6e40f49ae"/>
  </p:sldMasterIdLst>
  <p:notesMasterIdLst>
    <p:notesMasterId xmlns:r="http://schemas.openxmlformats.org/officeDocument/2006/relationships" r:id="R27a057ae092f4700"/>
  </p:notesMasterIdLst>
  <p:sldIdLst>
    <p:sldId xmlns:r="http://schemas.openxmlformats.org/officeDocument/2006/relationships" id="256" r:id="R26938b07bf464c81"/>
    <p:sldId xmlns:r="http://schemas.openxmlformats.org/officeDocument/2006/relationships" id="257" r:id="R7dd93e7f402c4062"/>
    <p:sldId xmlns:r="http://schemas.openxmlformats.org/officeDocument/2006/relationships" id="258" r:id="R21b8f67fabab47db"/>
    <p:sldId xmlns:r="http://schemas.openxmlformats.org/officeDocument/2006/relationships" id="259" r:id="Rfe294a2845d84910"/>
    <p:sldId xmlns:r="http://schemas.openxmlformats.org/officeDocument/2006/relationships" id="260" r:id="Ref9c0ed95ddc426e"/>
    <p:sldId xmlns:r="http://schemas.openxmlformats.org/officeDocument/2006/relationships" id="261" r:id="R474c0686be7a4aed"/>
    <p:sldId xmlns:r="http://schemas.openxmlformats.org/officeDocument/2006/relationships" id="262" r:id="R809886ef3ca54abe"/>
    <p:sldId xmlns:r="http://schemas.openxmlformats.org/officeDocument/2006/relationships" id="263" r:id="Ra76eed76583b49ab"/>
    <p:sldId xmlns:r="http://schemas.openxmlformats.org/officeDocument/2006/relationships" id="264" r:id="R4b28519d8bb44cf0"/>
    <p:sldId xmlns:r="http://schemas.openxmlformats.org/officeDocument/2006/relationships" id="265" r:id="Rc6869d2ab58e45e1"/>
    <p:sldId xmlns:r="http://schemas.openxmlformats.org/officeDocument/2006/relationships" id="266" r:id="R18ef98423f4d49d3"/>
    <p:sldId xmlns:r="http://schemas.openxmlformats.org/officeDocument/2006/relationships" id="267" r:id="R1a6a90d8857d4dc4"/>
    <p:sldId xmlns:r="http://schemas.openxmlformats.org/officeDocument/2006/relationships" id="268" r:id="R9c610c58c30843ad"/>
    <p:sldId xmlns:r="http://schemas.openxmlformats.org/officeDocument/2006/relationships" id="269" r:id="R37792033bdca4129"/>
    <p:sldId xmlns:r="http://schemas.openxmlformats.org/officeDocument/2006/relationships" id="270" r:id="R0583b79a9cc8463c"/>
    <p:sldId xmlns:r="http://schemas.openxmlformats.org/officeDocument/2006/relationships" id="271" r:id="R3627e7e656564d25"/>
    <p:sldId xmlns:r="http://schemas.openxmlformats.org/officeDocument/2006/relationships" id="272" r:id="R0182496fa4e948b3"/>
    <p:sldId xmlns:r="http://schemas.openxmlformats.org/officeDocument/2006/relationships" id="273" r:id="R8da22b20421b430a"/>
    <p:sldId xmlns:r="http://schemas.openxmlformats.org/officeDocument/2006/relationships" id="274" r:id="Ra4b6cfabaca54d60"/>
    <p:sldId xmlns:r="http://schemas.openxmlformats.org/officeDocument/2006/relationships" id="275" r:id="R23f4aed56d3f4e9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e621adc83c44f8" /><Relationship Type="http://schemas.openxmlformats.org/officeDocument/2006/relationships/slideMaster" Target="/ppt/slideMasters/slideMaster1.xml" Id="Refbfa3e6e40f49ae" /><Relationship Type="http://schemas.openxmlformats.org/officeDocument/2006/relationships/notesMaster" Target="/ppt/notesMasters/notesMaster1.xml" Id="R27a057ae092f4700" /><Relationship Type="http://schemas.openxmlformats.org/officeDocument/2006/relationships/presProps" Target="/ppt/presProps.xml" Id="Rb84f77cb36cd4c30" /><Relationship Type="http://schemas.openxmlformats.org/officeDocument/2006/relationships/tableStyles" Target="/ppt/tableStyles.xml" Id="R469469d1e74743b8" /><Relationship Type="http://schemas.openxmlformats.org/officeDocument/2006/relationships/slide" Target="/ppt/slides/slide1.xml" Id="R26938b07bf464c81" /><Relationship Type="http://schemas.openxmlformats.org/officeDocument/2006/relationships/slide" Target="/ppt/slides/slide2.xml" Id="R7dd93e7f402c4062" /><Relationship Type="http://schemas.openxmlformats.org/officeDocument/2006/relationships/slide" Target="/ppt/slides/slide3.xml" Id="R21b8f67fabab47db" /><Relationship Type="http://schemas.openxmlformats.org/officeDocument/2006/relationships/slide" Target="/ppt/slides/slide4.xml" Id="Rfe294a2845d84910" /><Relationship Type="http://schemas.openxmlformats.org/officeDocument/2006/relationships/slide" Target="/ppt/slides/slide5.xml" Id="Ref9c0ed95ddc426e" /><Relationship Type="http://schemas.openxmlformats.org/officeDocument/2006/relationships/slide" Target="/ppt/slides/slide6.xml" Id="R474c0686be7a4aed" /><Relationship Type="http://schemas.openxmlformats.org/officeDocument/2006/relationships/slide" Target="/ppt/slides/slide7.xml" Id="R809886ef3ca54abe" /><Relationship Type="http://schemas.openxmlformats.org/officeDocument/2006/relationships/slide" Target="/ppt/slides/slide8.xml" Id="Ra76eed76583b49ab" /><Relationship Type="http://schemas.openxmlformats.org/officeDocument/2006/relationships/slide" Target="/ppt/slides/slide9.xml" Id="R4b28519d8bb44cf0" /><Relationship Type="http://schemas.openxmlformats.org/officeDocument/2006/relationships/slide" Target="/ppt/slides/slide10.xml" Id="Rc6869d2ab58e45e1" /><Relationship Type="http://schemas.openxmlformats.org/officeDocument/2006/relationships/slide" Target="/ppt/slides/slide11.xml" Id="R18ef98423f4d49d3" /><Relationship Type="http://schemas.openxmlformats.org/officeDocument/2006/relationships/slide" Target="/ppt/slides/slide12.xml" Id="R1a6a90d8857d4dc4" /><Relationship Type="http://schemas.openxmlformats.org/officeDocument/2006/relationships/slide" Target="/ppt/slides/slide13.xml" Id="R9c610c58c30843ad" /><Relationship Type="http://schemas.openxmlformats.org/officeDocument/2006/relationships/slide" Target="/ppt/slides/slide14.xml" Id="R37792033bdca4129" /><Relationship Type="http://schemas.openxmlformats.org/officeDocument/2006/relationships/slide" Target="/ppt/slides/slide15.xml" Id="R0583b79a9cc8463c" /><Relationship Type="http://schemas.openxmlformats.org/officeDocument/2006/relationships/slide" Target="/ppt/slides/slide16.xml" Id="R3627e7e656564d25" /><Relationship Type="http://schemas.openxmlformats.org/officeDocument/2006/relationships/slide" Target="/ppt/slides/slide17.xml" Id="R0182496fa4e948b3" /><Relationship Type="http://schemas.openxmlformats.org/officeDocument/2006/relationships/slide" Target="/ppt/slides/slide18.xml" Id="R8da22b20421b430a" /><Relationship Type="http://schemas.openxmlformats.org/officeDocument/2006/relationships/slide" Target="/ppt/slides/slide19.xml" Id="Ra4b6cfabaca54d60" /><Relationship Type="http://schemas.openxmlformats.org/officeDocument/2006/relationships/slide" Target="/ppt/slides/slide20.xml" Id="R23f4aed56d3f4e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a0bd878a7c43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UNMAEK Visual Review">
      <a:dk1>
        <a:srgbClr val="000000"/>
      </a:dk1>
      <a:lt1>
        <a:srgbClr val="FFFFFF"/>
      </a:lt1>
      <a:dk2>
        <a:srgbClr val="111418"/>
      </a:dk2>
      <a:lt2>
        <a:srgbClr val="EDEDED"/>
      </a:lt2>
      <a:accent1>
        <a:srgbClr val="3D8DFF"/>
      </a:accent1>
      <a:accent2>
        <a:srgbClr val="6DCBF4"/>
      </a:accent2>
      <a:accent3>
        <a:srgbClr val="2C8A64"/>
      </a:accent3>
      <a:accent4>
        <a:srgbClr val="D88149"/>
      </a:accent4>
      <a:accent5>
        <a:srgbClr val="7C6FA8"/>
      </a:accent5>
      <a:accent6>
        <a:srgbClr val="72A99D"/>
      </a:accent6>
      <a:hlink>
        <a:srgbClr val="3D8DFF"/>
      </a:hlink>
      <a:folHlink>
        <a:srgbClr val="7C6FA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UNMAEK Visual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46f68f82c0463e" /><Relationship Type="http://schemas.openxmlformats.org/officeDocument/2006/relationships/notesMaster" Target="/ppt/notesMasters/notesMaster1.xml" Id="Rb8d866095fe148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a3b1132f9c4e02" /><Relationship Type="http://schemas.openxmlformats.org/officeDocument/2006/relationships/notesMaster" Target="/ppt/notesMasters/notesMaster1.xml" Id="R30c73499bfef4c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3f235f5cf24c86" /><Relationship Type="http://schemas.openxmlformats.org/officeDocument/2006/relationships/notesMaster" Target="/ppt/notesMasters/notesMaster1.xml" Id="Re13da5e773034f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20c9b959c94208" /><Relationship Type="http://schemas.openxmlformats.org/officeDocument/2006/relationships/notesMaster" Target="/ppt/notesMasters/notesMaster1.xml" Id="Rd954cc6aef5049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434e71e9734574" /><Relationship Type="http://schemas.openxmlformats.org/officeDocument/2006/relationships/notesMaster" Target="/ppt/notesMasters/notesMaster1.xml" Id="R6f28c26be51b4d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32bad4c5854678" /><Relationship Type="http://schemas.openxmlformats.org/officeDocument/2006/relationships/notesMaster" Target="/ppt/notesMasters/notesMaster1.xml" Id="Rc889d66df27443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bfb5b505794d98" /><Relationship Type="http://schemas.openxmlformats.org/officeDocument/2006/relationships/notesMaster" Target="/ppt/notesMasters/notesMaster1.xml" Id="R3a36ff5d0d9749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2dab2b4cf94c80" /><Relationship Type="http://schemas.openxmlformats.org/officeDocument/2006/relationships/notesMaster" Target="/ppt/notesMasters/notesMaster1.xml" Id="R004e32e716c24d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fa3cc9e2ae4a70" /><Relationship Type="http://schemas.openxmlformats.org/officeDocument/2006/relationships/notesMaster" Target="/ppt/notesMasters/notesMaster1.xml" Id="R454636cfe6cc42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844c9d76614b64" /><Relationship Type="http://schemas.openxmlformats.org/officeDocument/2006/relationships/notesMaster" Target="/ppt/notesMasters/notesMaster1.xml" Id="Rd247caebe1ae465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c8661094e34808" /><Relationship Type="http://schemas.openxmlformats.org/officeDocument/2006/relationships/notesMaster" Target="/ppt/notesMasters/notesMaster1.xml" Id="Rb410dd5cd9b34dc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744a33072e64fd8" /><Relationship Type="http://schemas.openxmlformats.org/officeDocument/2006/relationships/notesMaster" Target="/ppt/notesMasters/notesMaster1.xml" Id="R4e17cac78228448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eaf713e8bbc42af" /><Relationship Type="http://schemas.openxmlformats.org/officeDocument/2006/relationships/notesMaster" Target="/ppt/notesMasters/notesMaster1.xml" Id="Rebd5ffbae6b347f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1fb0da53cdd4015" /><Relationship Type="http://schemas.openxmlformats.org/officeDocument/2006/relationships/notesMaster" Target="/ppt/notesMasters/notesMaster1.xml" Id="R7377770142e74ca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18d5011234f4dd2" /><Relationship Type="http://schemas.openxmlformats.org/officeDocument/2006/relationships/notesMaster" Target="/ppt/notesMasters/notesMaster1.xml" Id="R706e0c4534294c0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3a6c507563847a0" /><Relationship Type="http://schemas.openxmlformats.org/officeDocument/2006/relationships/notesMaster" Target="/ppt/notesMasters/notesMaster1.xml" Id="Ra279e391790a421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2fdf36414554ed9" /><Relationship Type="http://schemas.openxmlformats.org/officeDocument/2006/relationships/notesMaster" Target="/ppt/notesMasters/notesMaster1.xml" Id="R90425fe9d2fc43f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170fb95b87e435b" /><Relationship Type="http://schemas.openxmlformats.org/officeDocument/2006/relationships/notesMaster" Target="/ppt/notesMasters/notesMaster1.xml" Id="Rc9b3047c25db43f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c00cadb70ae482b" /><Relationship Type="http://schemas.openxmlformats.org/officeDocument/2006/relationships/notesMaster" Target="/ppt/notesMasters/notesMaster1.xml" Id="Re885aeb60e2344a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fc1100d2b52461a" /><Relationship Type="http://schemas.openxmlformats.org/officeDocument/2006/relationships/notesMaster" Target="/ppt/notesMasters/notesMaster1.xml" Id="R50973341308346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MOTION_VALIDATION_REPORT_PILOT_v1.md</a:t>
            </a:r>
          </a:p>
          <a:p xmlns:a="http://schemas.openxmlformats.org/drawingml/2006/main">
            <a:r>
              <a:t>- previews/gameplay_960x540/goral_attack_pilot_960x540.mp4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MOTION_VALIDATION_REPORT_PILOT_v1.md</a:t>
            </a:r>
          </a:p>
          <a:p xmlns:a="http://schemas.openxmlformats.org/drawingml/2006/main">
            <a:r>
              <a:t>- PLAYER_SOURCE_BLOCKER_REPORT.md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SUPERSEDED_REFERENCE_MAP_v1.md</a:t>
            </a:r>
          </a:p>
          <a:p xmlns:a="http://schemas.openxmlformats.org/drawingml/2006/main">
            <a:r>
              <a:t>- previews/before_after/deflect_bat_v1_static_strip_REFERENCE_ONLY.png</a:t>
            </a:r>
          </a:p>
          <a:p xmlns:a="http://schemas.openxmlformats.org/drawingml/2006/main">
            <a:r>
              <a:t>- previews/before_after/rewind_lizard_v1_static_strip_REFERENCE_ONLY.png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SOURCE_AUDIT_PLAYER_ACT1_v1.md</a:t>
            </a:r>
          </a:p>
          <a:p xmlns:a="http://schemas.openxmlformats.org/drawingml/2006/main">
            <a:r>
              <a:t>- source_cache/runtime_pack_full/creatures/act1/*/metadata.json</a:t>
            </a:r>
          </a:p>
          <a:p xmlns:a="http://schemas.openxmlformats.org/drawingml/2006/main">
            <a:r>
              <a:t>- UNMAEK_VISUAL_RECOVERY_RUNTIME_EXPORT_v1/creatures/act1/mineral_spider/runtime_corrected/*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project_sources/07-hero_runtime_keyposes.png</a:t>
            </a:r>
          </a:p>
          <a:p xmlns:a="http://schemas.openxmlformats.org/drawingml/2006/main">
            <a:r>
              <a:t>- project_sources/08-png</a:t>
            </a:r>
          </a:p>
          <a:p xmlns:a="http://schemas.openxmlformats.org/drawingml/2006/main">
            <a:r>
              <a:t>- PLAYER_SOURCE_BLOCKER_REPORT.md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PLAYER_SOURCE_BLOCKER_REPORT.md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MOTION_SEQUENCE_MATRIX_PILOT_v1.md</a:t>
            </a:r>
          </a:p>
          <a:p xmlns:a="http://schemas.openxmlformats.org/drawingml/2006/main">
            <a:r>
              <a:t>- MOTION_FRAME_MANIFEST_PILOT_v1.json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pressure_swift/fly/*.png</a:t>
            </a:r>
          </a:p>
          <a:p xmlns:a="http://schemas.openxmlformats.org/drawingml/2006/main">
            <a:r>
              <a:t>- pressure_swift/evade/*.png</a:t>
            </a:r>
          </a:p>
          <a:p xmlns:a="http://schemas.openxmlformats.org/drawingml/2006/main">
            <a:r>
              <a:t>- previews/animated/pressure_swift_motion_pilot_preview.mp4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deflect_bat/*/*.png</a:t>
            </a:r>
          </a:p>
          <a:p xmlns:a="http://schemas.openxmlformats.org/drawingml/2006/main">
            <a:r>
              <a:t>- previews/animated/deflect_bat_motion_pilot_preview.mp4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rewind_lizard/*/*.png</a:t>
            </a:r>
          </a:p>
          <a:p xmlns:a="http://schemas.openxmlformats.org/drawingml/2006/main">
            <a:r>
              <a:t>- previews/animated/rewind_lizard_motion_pilot_preview.mp4</a:t>
            </a:r>
          </a:p>
          <a:p xmlns:a="http://schemas.openxmlformats.org/drawingml/2006/main">
            <a:r>
              <a:t>- MOTION_FRAME_MANIFEST_PILOT_v1.json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mineral_spider/*/*.png</a:t>
            </a:r>
          </a:p>
          <a:p xmlns:a="http://schemas.openxmlformats.org/drawingml/2006/main">
            <a:r>
              <a:t>- UNMAEK_VISUAL_RECOVERY_RUNTIME_EXPORT_v1/creatures/act1/mineral_spider/runtime_corrected/*</a:t>
            </a:r>
          </a:p>
          <a:p xmlns:a="http://schemas.openxmlformats.org/drawingml/2006/main">
            <a:r>
              <a:t>- previews/animated/mineral_spider_motion_pilot_preview.mp4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resonance_goral/*/*.png</a:t>
            </a:r>
          </a:p>
          <a:p xmlns:a="http://schemas.openxmlformats.org/drawingml/2006/main">
            <a:r>
              <a:t>- previews/animated/resonance_goral_motion_pilot_preview.mp4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pressure_swift/fly/pressure_swift_fly_f02.png</a:t>
            </a:r>
          </a:p>
          <a:p xmlns:a="http://schemas.openxmlformats.org/drawingml/2006/main">
            <a:r>
              <a:t>- deflect_bat/attack/deflect_bat_attack_f02.png</a:t>
            </a:r>
          </a:p>
          <a:p xmlns:a="http://schemas.openxmlformats.org/drawingml/2006/main">
            <a:r>
              <a:t>- rewind_lizard/prep/rewind_lizard_prep_f03.png</a:t>
            </a:r>
          </a:p>
          <a:p xmlns:a="http://schemas.openxmlformats.org/drawingml/2006/main">
            <a:r>
              <a:t>- MOTION_VALIDATION_REPORT_PILOT_v1.md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previews/runtime_1x/*.mp4</a:t>
            </a:r>
          </a:p>
          <a:p xmlns:a="http://schemas.openxmlformats.org/drawingml/2006/main">
            <a:r>
              <a:t>- previews/nearest_4x/*.mp4</a:t>
            </a:r>
          </a:p>
          <a:p xmlns:a="http://schemas.openxmlformats.org/drawingml/2006/main">
            <a:r>
              <a:t>- previews/animated/*.mp4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previews/gameplay_960x540/bat_attack_pilot_960x540.mp4</a:t>
            </a:r>
          </a:p>
          <a:p xmlns:a="http://schemas.openxmlformats.org/drawingml/2006/main">
            <a:r>
              <a:t>- previews/gameplay_960x540/lizard_attack_pilot_960x540.mp4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previews/gameplay_960x540/spider_attack_pilot_960x540.mp4</a:t>
            </a:r>
          </a:p>
          <a:p xmlns:a="http://schemas.openxmlformats.org/drawingml/2006/main">
            <a:r>
              <a:t>- previews/gameplay_960x540/goral_attack_pilot_960x540.mp4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PER_FRAME_ANCHOR_OFFSET_PILOT_v1.json</a:t>
            </a:r>
          </a:p>
          <a:p xmlns:a="http://schemas.openxmlformats.org/drawingml/2006/main">
            <a:r>
              <a:t>- ATTACK_ANCHOR_FLIP_REVIEW_v1.md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previews/before_after/*_v1_static_strip_REFERENCE_ONLY.png</a:t>
            </a:r>
          </a:p>
          <a:p xmlns:a="http://schemas.openxmlformats.org/drawingml/2006/main">
            <a:r>
              <a:t>- previews/before_after/*_new_frame_sequence_contact.png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MOTION_VALIDATION_REPORT_PILOT_v1.md</a:t>
            </a:r>
          </a:p>
          <a:p xmlns:a="http://schemas.openxmlformats.org/drawingml/2006/main">
            <a:r>
              <a:t>- reports/validation_results.json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FRAME_NEED_REASSESSMENT_v1.md</a:t>
            </a:r>
          </a:p>
          <a:p xmlns:a="http://schemas.openxmlformats.org/drawingml/2006/main">
            <a:r>
              <a:t>- MOTION_VALIDATION_REPORT_PILOT_v1.md</a:t>
            </a:r>
          </a:p>
          <a:p xmlns:a="http://schemas.openxmlformats.org/drawingml/2006/main">
            <a:r>
              <a:t>- PLAYER_SOURCE_BLOCKER_REPORT.md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372e2e887242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b9cc055a324b6a" /><Relationship Type="http://schemas.openxmlformats.org/officeDocument/2006/relationships/slideLayout" Target="/ppt/slideLayouts/slideLayout1.xml" Id="Rfed52061950c49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d52061950c49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UNMAEK Visual Review">
      <a:dk1>
        <a:srgbClr val="000000"/>
      </a:dk1>
      <a:lt1>
        <a:srgbClr val="FFFFFF"/>
      </a:lt1>
      <a:dk2>
        <a:srgbClr val="111418"/>
      </a:dk2>
      <a:lt2>
        <a:srgbClr val="EDEDED"/>
      </a:lt2>
      <a:accent1>
        <a:srgbClr val="3D8DFF"/>
      </a:accent1>
      <a:accent2>
        <a:srgbClr val="6DCBF4"/>
      </a:accent2>
      <a:accent3>
        <a:srgbClr val="2C8A64"/>
      </a:accent3>
      <a:accent4>
        <a:srgbClr val="D88149"/>
      </a:accent4>
      <a:accent5>
        <a:srgbClr val="7C6FA8"/>
      </a:accent5>
      <a:accent6>
        <a:srgbClr val="72A99D"/>
      </a:accent6>
      <a:hlink>
        <a:srgbClr val="3D8DFF"/>
      </a:hlink>
      <a:folHlink>
        <a:srgbClr val="7C6FA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UNMAEK Visual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087ce069484ee8" /><Relationship Type="http://schemas.openxmlformats.org/officeDocument/2006/relationships/image" Target="/ppt/media/image.png" Id="R30074a1be2f145a8" /><Relationship Type="http://schemas.openxmlformats.org/officeDocument/2006/relationships/notesSlide" Target="/ppt/notesSlides/notesSlide1.xml" Id="Re88ce998124244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d6733a1b54548" /><Relationship Type="http://schemas.openxmlformats.org/officeDocument/2006/relationships/notesSlide" Target="/ppt/notesSlides/notesSlide2.xml" Id="R7526c46621d04a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83c42b5fe144df" /><Relationship Type="http://schemas.openxmlformats.org/officeDocument/2006/relationships/image" Target="/ppt/media/image2.png" Id="Rb95a2e75838c4c63" /><Relationship Type="http://schemas.openxmlformats.org/officeDocument/2006/relationships/image" Target="/ppt/media/image3.png" Id="R2bc078845cfc4964" /><Relationship Type="http://schemas.openxmlformats.org/officeDocument/2006/relationships/notesSlide" Target="/ppt/notesSlides/notesSlide3.xml" Id="R78223c58de5149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6c84b653444bb" /><Relationship Type="http://schemas.openxmlformats.org/officeDocument/2006/relationships/notesSlide" Target="/ppt/notesSlides/notesSlide4.xml" Id="R8ad47e1585db4a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f71b42e1fc4540" /><Relationship Type="http://schemas.openxmlformats.org/officeDocument/2006/relationships/image" Target="/ppt/media/image4.png" Id="R6ca7a15ee1df4ea2" /><Relationship Type="http://schemas.openxmlformats.org/officeDocument/2006/relationships/image" Target="/ppt/media/image5.png" Id="R422d79a4c9be4cc7" /><Relationship Type="http://schemas.openxmlformats.org/officeDocument/2006/relationships/notesSlide" Target="/ppt/notesSlides/notesSlide5.xml" Id="Rbfb06e63b52a48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528fb23e64ad8" /><Relationship Type="http://schemas.openxmlformats.org/officeDocument/2006/relationships/notesSlide" Target="/ppt/notesSlides/notesSlide6.xml" Id="R214325b1c69c4e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f487b9a544074" /><Relationship Type="http://schemas.openxmlformats.org/officeDocument/2006/relationships/notesSlide" Target="/ppt/notesSlides/notesSlide7.xml" Id="Rd7c7d9d384774e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0ef1bcd1e46a3" /><Relationship Type="http://schemas.openxmlformats.org/officeDocument/2006/relationships/image" Target="/ppt/media/image6.png" Id="Rb162d718ccbe4bc7" /><Relationship Type="http://schemas.openxmlformats.org/officeDocument/2006/relationships/notesSlide" Target="/ppt/notesSlides/notesSlide8.xml" Id="Rf2975e12badd4f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d733251ba40f7" /><Relationship Type="http://schemas.openxmlformats.org/officeDocument/2006/relationships/image" Target="/ppt/media/image7.png" Id="R9418da86a0cf470c" /><Relationship Type="http://schemas.openxmlformats.org/officeDocument/2006/relationships/notesSlide" Target="/ppt/notesSlides/notesSlide9.xml" Id="R370a1520ef1940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75da81570466c" /><Relationship Type="http://schemas.openxmlformats.org/officeDocument/2006/relationships/image" Target="/ppt/media/image8.png" Id="R7ea7c9a9b9a642fa" /><Relationship Type="http://schemas.openxmlformats.org/officeDocument/2006/relationships/notesSlide" Target="/ppt/notesSlides/notesSlide10.xml" Id="R45f3be5adcb3411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d0f2cb4fc4e2a" /><Relationship Type="http://schemas.openxmlformats.org/officeDocument/2006/relationships/image" Target="/ppt/media/image9.png" Id="R0fb5cade8f804158" /><Relationship Type="http://schemas.openxmlformats.org/officeDocument/2006/relationships/notesSlide" Target="/ppt/notesSlides/notesSlide11.xml" Id="R94884bf8f8574a8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5181a67e64b3a" /><Relationship Type="http://schemas.openxmlformats.org/officeDocument/2006/relationships/image" Target="/ppt/media/image10.png" Id="R6fc6ffa74ca9489f" /><Relationship Type="http://schemas.openxmlformats.org/officeDocument/2006/relationships/notesSlide" Target="/ppt/notesSlides/notesSlide12.xml" Id="Raffa74e011fb4c8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87da428384c4e" /><Relationship Type="http://schemas.openxmlformats.org/officeDocument/2006/relationships/image" Target="/ppt/media/image11.png" Id="R754e4aa75c3c4d81" /><Relationship Type="http://schemas.openxmlformats.org/officeDocument/2006/relationships/image" Target="/ppt/media/image12.png" Id="Re0e73d6151154ee7" /><Relationship Type="http://schemas.openxmlformats.org/officeDocument/2006/relationships/image" Target="/ppt/media/image13.png" Id="Re6a9f3c7ba934701" /><Relationship Type="http://schemas.openxmlformats.org/officeDocument/2006/relationships/image" Target="/ppt/media/image14.png" Id="R355d2eca0bb44919" /><Relationship Type="http://schemas.openxmlformats.org/officeDocument/2006/relationships/image" Target="/ppt/media/image15.png" Id="Rc36cbd728dac4f19" /><Relationship Type="http://schemas.openxmlformats.org/officeDocument/2006/relationships/image" Target="/ppt/media/image16.png" Id="Re06457f41a6d4ecd" /><Relationship Type="http://schemas.openxmlformats.org/officeDocument/2006/relationships/notesSlide" Target="/ppt/notesSlides/notesSlide13.xml" Id="R04a6d20cccd6468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8492b79fff463a" /><Relationship Type="http://schemas.openxmlformats.org/officeDocument/2006/relationships/image" Target="/ppt/media/image17.png" Id="Re941bbf7e9fb4fdc" /><Relationship Type="http://schemas.openxmlformats.org/officeDocument/2006/relationships/image" Target="/ppt/media/image18.png" Id="R4a0ce75b70954c49" /><Relationship Type="http://schemas.openxmlformats.org/officeDocument/2006/relationships/image" Target="/ppt/media/image19.png" Id="R179913ee9cd444ce" /><Relationship Type="http://schemas.openxmlformats.org/officeDocument/2006/relationships/image" Target="/ppt/media/image20.png" Id="R14d09e187dc34885" /><Relationship Type="http://schemas.openxmlformats.org/officeDocument/2006/relationships/image" Target="/ppt/media/image21.png" Id="Rc0896b12ef2c439d" /><Relationship Type="http://schemas.openxmlformats.org/officeDocument/2006/relationships/notesSlide" Target="/ppt/notesSlides/notesSlide14.xml" Id="Rf040d4e2f246407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4b805cc5148d1" /><Relationship Type="http://schemas.openxmlformats.org/officeDocument/2006/relationships/image" Target="/ppt/media/image22.png" Id="Rb6376708fab84a26" /><Relationship Type="http://schemas.openxmlformats.org/officeDocument/2006/relationships/image" Target="/ppt/media/image23.png" Id="Rc1af5ea2b9f4497d" /><Relationship Type="http://schemas.openxmlformats.org/officeDocument/2006/relationships/notesSlide" Target="/ppt/notesSlides/notesSlide15.xml" Id="R7b4e3987e31f453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2e0fa03c9463b" /><Relationship Type="http://schemas.openxmlformats.org/officeDocument/2006/relationships/image" Target="/ppt/media/image24.png" Id="Rb973d27309b44cf4" /><Relationship Type="http://schemas.openxmlformats.org/officeDocument/2006/relationships/image" Target="/ppt/media/image25.png" Id="R09a72bdf0aaa4e90" /><Relationship Type="http://schemas.openxmlformats.org/officeDocument/2006/relationships/notesSlide" Target="/ppt/notesSlides/notesSlide16.xml" Id="R133ccf5a199a4e4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b243f047642b0" /><Relationship Type="http://schemas.openxmlformats.org/officeDocument/2006/relationships/image" Target="/ppt/media/image26.png" Id="Ra6be87a892cd4884" /><Relationship Type="http://schemas.openxmlformats.org/officeDocument/2006/relationships/image" Target="/ppt/media/image27.png" Id="Rb4bf8855461240e6" /><Relationship Type="http://schemas.openxmlformats.org/officeDocument/2006/relationships/image" Target="/ppt/media/image28.png" Id="Rdb7b311849084e84" /><Relationship Type="http://schemas.openxmlformats.org/officeDocument/2006/relationships/image" Target="/ppt/media/image29.png" Id="R635c6661ea6745a8" /><Relationship Type="http://schemas.openxmlformats.org/officeDocument/2006/relationships/notesSlide" Target="/ppt/notesSlides/notesSlide17.xml" Id="R4a3957671d334ce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96e6a911c45fb" /><Relationship Type="http://schemas.openxmlformats.org/officeDocument/2006/relationships/image" Target="/ppt/media/image30.png" Id="R86130aada44941cf" /><Relationship Type="http://schemas.openxmlformats.org/officeDocument/2006/relationships/image" Target="/ppt/media/image31.png" Id="R78c4eda17da24e88" /><Relationship Type="http://schemas.openxmlformats.org/officeDocument/2006/relationships/image" Target="/ppt/media/image32.png" Id="R4301d463b8b24102" /><Relationship Type="http://schemas.openxmlformats.org/officeDocument/2006/relationships/image" Target="/ppt/media/image33.png" Id="Red2d3b0d33604061" /><Relationship Type="http://schemas.openxmlformats.org/officeDocument/2006/relationships/image" Target="/ppt/media/image34.png" Id="R48c5c00a49404fe2" /><Relationship Type="http://schemas.openxmlformats.org/officeDocument/2006/relationships/image" Target="/ppt/media/image35.png" Id="Rb46e59f5c6394055" /><Relationship Type="http://schemas.openxmlformats.org/officeDocument/2006/relationships/image" Target="/ppt/media/image36.png" Id="Rd07f572956364b27" /><Relationship Type="http://schemas.openxmlformats.org/officeDocument/2006/relationships/image" Target="/ppt/media/image37.png" Id="Re1de1bcac6fb4655" /><Relationship Type="http://schemas.openxmlformats.org/officeDocument/2006/relationships/image" Target="/ppt/media/image38.png" Id="R8b8e19635251437b" /><Relationship Type="http://schemas.openxmlformats.org/officeDocument/2006/relationships/image" Target="/ppt/media/image39.png" Id="Rfec913060bc442b5" /><Relationship Type="http://schemas.openxmlformats.org/officeDocument/2006/relationships/notesSlide" Target="/ppt/notesSlides/notesSlide18.xml" Id="R9c34815da720442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f39866568a45e1" /><Relationship Type="http://schemas.openxmlformats.org/officeDocument/2006/relationships/notesSlide" Target="/ppt/notesSlides/notesSlide19.xml" Id="R4e1252806e3b4d0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c705a8443481a" /><Relationship Type="http://schemas.openxmlformats.org/officeDocument/2006/relationships/notesSlide" Target="/ppt/notesSlides/notesSlide20.xml" Id="R926fa2df527044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325E5C-68CB-4F1E-858D-DC98AEEC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650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UNMAEK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DE74F-528C-443D-B3D8-5BC3C782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14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212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2625" b="1">
                <a:solidFill>
                  <a:srgbClr val="17212B"/>
                </a:solidFill>
                <a:latin typeface="Noto Sans KR Thin"/>
                <a:ea typeface="Noto Sans KR Thin"/>
                <a:cs typeface="Noto Sans KR Thin"/>
              </a:rPr>
              <a:t>COMBAT MOTION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17212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2625" b="1">
                <a:solidFill>
                  <a:srgbClr val="17212B"/>
                </a:solidFill>
                <a:latin typeface="Noto Sans KR Thin"/>
                <a:ea typeface="Noto Sans KR Thin"/>
                <a:cs typeface="Noto Sans KR Thin"/>
              </a:rPr>
              <a:t>FRAME RECOVERY PILOT v1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21B28-C4AA-4D31-989B-C8793DE0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473E6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350" b="1">
                <a:solidFill>
                  <a:srgbClr val="1473E6"/>
                </a:solidFill>
                <a:latin typeface="Noto Sans KR Thin"/>
                <a:ea typeface="Noto Sans KR Thin"/>
                <a:cs typeface="Noto Sans KR Thin"/>
              </a:rPr>
              <a:t>PLAYER &amp; ACT 1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1473E6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350" b="1">
                <a:solidFill>
                  <a:srgbClr val="1473E6"/>
                </a:solidFill>
                <a:latin typeface="Noto Sans KR Thin"/>
                <a:ea typeface="Noto Sans KR Thin"/>
                <a:cs typeface="Noto Sans KR Thin"/>
              </a:rPr>
              <a:t>REAL FRAME SEQUENCE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9C47E-3796-4120-8ACB-4E459697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900" b="0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99 ACT 1 frames · 19 review MP4 · player SOURCE_BLOCKED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8CB64-792D-4BC6-97A6-CD8BD52F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0050"/>
            <a:ext cx="5581650" cy="556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39573C-2504-4468-9247-887D11EA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619750"/>
            <a:ext cx="5314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E6670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825" b="1">
                <a:solidFill>
                  <a:srgbClr val="5E6670"/>
                </a:solidFill>
                <a:latin typeface="Noto Sans KR Thin"/>
                <a:ea typeface="Noto Sans KR Thin"/>
                <a:cs typeface="Noto Sans KR Thin"/>
              </a:rPr>
              <a:t>ACT 1 BOSS · REAL FRAME PLAYBACK COMPOSITE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B64B6-7DB5-41BE-B8C8-AA57ADF6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2C91D2-0A75-4663-B02F-2AD9B348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UNMAEK_COMBAT_MOTION_FRAME_RECOVERY_PILOT_v1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51A69A-E740-4322-A8AF-4A9BBFA8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01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074a1be2f145a8"/>
          <a:srcRect xmlns:a="http://schemas.openxmlformats.org/drawingml/2006/main" l="11535" t="0" r="115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3650" y="1181100"/>
            <a:ext cx="5314950" cy="3886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5386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1F504B-9DF7-4100-8BB1-B639B92B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84ECE-E3D6-4AA3-9279-115CE0ED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12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2100" b="1">
                <a:solidFill>
                  <a:srgbClr val="17212B"/>
                </a:solidFill>
                <a:latin typeface="Noto Sans KR Thin"/>
                <a:ea typeface="Noto Sans KR Thin"/>
                <a:cs typeface="Noto Sans KR Thin"/>
              </a:rPr>
              <a:t>ACT 1 생물은 PASS, 주인공은 실제 원본 부재로 SOURCE_BLOCKED다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EFABB-01E9-4C61-B22E-5A3B785E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프록시 없이 중단했기 때문에 전체 판정은 CONDITIONAL PASS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C2767-AE07-476D-8C71-D11D8208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F6772-E47D-42AC-84AD-74845362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00 · PILOT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12FD83-4F9E-4655-966C-F18BEB5D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68EC8-E2F2-4A0B-B17C-69589C46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600700" cy="1504950"/>
          </a:xfrm>
          <a:prstGeom xmlns:a="http://schemas.openxmlformats.org/drawingml/2006/main" prst="roundRect">
            <a:avLst>
              <a:gd name="adj" fmla="val 506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2B9B6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FC0AA4-654B-4E9C-BBBF-1E48D0F8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71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9B6F"/>
                </a:solidFill>
              </a:defRPr>
            </a:pPr>
            <a:r>
              <a:rPr sz="1125" b="1">
                <a:solidFill>
                  <a:srgbClr val="2B9B6F"/>
                </a:solidFill>
              </a:rPr>
              <a:t>ACT 1 CREATURE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29A825-56C8-4453-BFFF-8B50B012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52600"/>
            <a:ext cx="15811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B9B6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39B951-20AF-4DCE-8368-972DB543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5260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B9B6F"/>
                </a:solidFill>
              </a:defRPr>
            </a:pPr>
            <a:r>
              <a:rPr sz="863" b="1">
                <a:solidFill>
                  <a:srgbClr val="2B9B6F"/>
                </a:solidFill>
              </a:rPr>
              <a:t>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06BCE8-CFF7-4C1E-AFD4-D4A31B44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7212B"/>
                </a:solidFill>
              </a:defRPr>
            </a:pPr>
            <a:r>
              <a:rPr sz="1013" b="1">
                <a:solidFill>
                  <a:srgbClr val="17212B"/>
                </a:solidFill>
              </a:rPr>
              <a:t>99 actual frames · 25 sequences</a:t>
            </a:r>
          </a:p>
          <a:p xmlns:a="http://schemas.openxmlformats.org/drawingml/2006/main">
            <a:pPr algn="ctr">
              <a:defRPr sz="1013" b="1">
                <a:solidFill>
                  <a:srgbClr val="17212B"/>
                </a:solidFill>
              </a:defRPr>
            </a:pPr>
            <a:r>
              <a:rPr sz="1013" b="1">
                <a:solidFill>
                  <a:srgbClr val="17212B"/>
                </a:solidFill>
              </a:rPr>
              <a:t>중복 0 · translation-only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54A317-7E27-41D0-8B60-6F999880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600700" cy="1504950"/>
          </a:xfrm>
          <a:prstGeom xmlns:a="http://schemas.openxmlformats.org/drawingml/2006/main" prst="roundRect">
            <a:avLst>
              <a:gd name="adj" fmla="val 506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2B9B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E92AFA-306A-49A4-A679-60CAE114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9B6F"/>
                </a:solidFill>
              </a:defRPr>
            </a:pPr>
            <a:r>
              <a:rPr sz="1125" b="1">
                <a:solidFill>
                  <a:srgbClr val="2B9B6F"/>
                </a:solidFill>
              </a:rPr>
              <a:t>PLAYBACK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35A619-17A5-454D-83A2-A775E3C5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752600"/>
            <a:ext cx="15811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B9B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67093D-D44E-4353-AB58-104A5AA0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75260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B9B6F"/>
                </a:solidFill>
              </a:defRPr>
            </a:pPr>
            <a:r>
              <a:rPr sz="863" b="1">
                <a:solidFill>
                  <a:srgbClr val="2B9B6F"/>
                </a:solidFill>
              </a:rPr>
              <a:t>PASS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FA8ED5-423C-42A5-B782-982911CF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0980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7212B"/>
                </a:solidFill>
              </a:defRPr>
            </a:pPr>
            <a:r>
              <a:rPr sz="1013" b="1">
                <a:solidFill>
                  <a:srgbClr val="17212B"/>
                </a:solidFill>
              </a:rPr>
              <a:t>1× 5 · 4× 5 · animated 5</a:t>
            </a:r>
          </a:p>
          <a:p xmlns:a="http://schemas.openxmlformats.org/drawingml/2006/main">
            <a:pPr algn="ctr">
              <a:defRPr sz="1013" b="1">
                <a:solidFill>
                  <a:srgbClr val="17212B"/>
                </a:solidFill>
              </a:defRPr>
            </a:pPr>
            <a:r>
              <a:rPr sz="1013" b="1">
                <a:solidFill>
                  <a:srgbClr val="17212B"/>
                </a:solidFill>
              </a:rPr>
              <a:t>960×540 gameplay 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803A75-BAE9-4929-9C4B-96EB8564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5600700" cy="1504950"/>
          </a:xfrm>
          <a:prstGeom xmlns:a="http://schemas.openxmlformats.org/drawingml/2006/main" prst="roundRect">
            <a:avLst>
              <a:gd name="adj" fmla="val 506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E98A2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EE97D9-46BB-4D42-9CD6-5184757C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861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98A2B"/>
                </a:solidFill>
              </a:defRPr>
            </a:pPr>
            <a:r>
              <a:rPr sz="1125" b="1">
                <a:solidFill>
                  <a:srgbClr val="E98A2B"/>
                </a:solidFill>
              </a:rPr>
              <a:t>PLAYER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6A8B23-B0AB-4237-9418-75A12775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67100"/>
            <a:ext cx="15811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8A2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40E762-F378-46B6-BEDC-A5E9B782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46710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E98A2B"/>
                </a:solidFill>
              </a:defRPr>
            </a:pPr>
            <a:r>
              <a:rPr sz="863" b="1">
                <a:solidFill>
                  <a:srgbClr val="E98A2B"/>
                </a:solidFill>
              </a:rPr>
              <a:t>SOURCE_BLOCKED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04007C-5986-4A70-B402-ED989DFF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2430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7212B"/>
                </a:solidFill>
              </a:defRPr>
            </a:pPr>
            <a:r>
              <a:rPr sz="1013" b="1">
                <a:solidFill>
                  <a:srgbClr val="17212B"/>
                </a:solidFill>
              </a:rPr>
              <a:t>runtime/state 원본 없음</a:t>
            </a:r>
          </a:p>
          <a:p xmlns:a="http://schemas.openxmlformats.org/drawingml/2006/main">
            <a:pPr algn="ctr">
              <a:defRPr sz="1013" b="1">
                <a:solidFill>
                  <a:srgbClr val="17212B"/>
                </a:solidFill>
              </a:defRPr>
            </a:pPr>
            <a:r>
              <a:rPr sz="1013" b="1">
                <a:solidFill>
                  <a:srgbClr val="17212B"/>
                </a:solidFill>
              </a:rPr>
              <a:t>proxy frame·video 생성 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2293DA-5CF5-42EE-9C06-64F7C24C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5600700" cy="1504950"/>
          </a:xfrm>
          <a:prstGeom xmlns:a="http://schemas.openxmlformats.org/drawingml/2006/main" prst="roundRect">
            <a:avLst>
              <a:gd name="adj" fmla="val 506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1473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CCAE6F-3414-47B0-B72D-A1B8D45A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861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3E6"/>
                </a:solidFill>
              </a:defRPr>
            </a:pPr>
            <a:r>
              <a:rPr sz="1125" b="1">
                <a:solidFill>
                  <a:srgbClr val="1473E6"/>
                </a:solidFill>
              </a:rPr>
              <a:t>LOCKED SCOPE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7E925D-28AC-4CFD-B187-82545492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467100"/>
            <a:ext cx="15811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73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F54AC1-F7AF-4B59-A8A2-54C6B68E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46710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473E6"/>
                </a:solidFill>
              </a:defRPr>
            </a:pPr>
            <a:r>
              <a:rPr sz="863" b="1">
                <a:solidFill>
                  <a:srgbClr val="1473E6"/>
                </a:solidFill>
              </a:rPr>
              <a:t>UNCHANGED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C397F1-DA71-4AD7-885F-F5507C17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2430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7212B"/>
                </a:solidFill>
              </a:defRPr>
            </a:pPr>
            <a:r>
              <a:rPr sz="1013" b="1">
                <a:solidFill>
                  <a:srgbClr val="17212B"/>
                </a:solidFill>
              </a:rPr>
              <a:t>new state machine 0</a:t>
            </a:r>
          </a:p>
          <a:p xmlns:a="http://schemas.openxmlformats.org/drawingml/2006/main">
            <a:pPr algn="ctr">
              <a:defRPr sz="1013" b="1">
                <a:solidFill>
                  <a:srgbClr val="17212B"/>
                </a:solidFill>
              </a:defRPr>
            </a:pPr>
            <a:r>
              <a:rPr sz="1013" b="1">
                <a:solidFill>
                  <a:srgbClr val="17212B"/>
                </a:solidFill>
              </a:rPr>
              <a:t>new attack 0 · new AI 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099C4E-B878-49F1-AF2F-61E98F8A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552450"/>
          </a:xfrm>
          <a:prstGeom xmlns:a="http://schemas.openxmlformats.org/drawingml/2006/main" prst="roundRect">
            <a:avLst>
              <a:gd name="adj" fmla="val 1379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E98A2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F244CC-FEF6-49EE-9C5A-39DF25FC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959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E98A2B"/>
                </a:solidFill>
              </a:defRPr>
            </a:pPr>
            <a:r>
              <a:rPr sz="1013" b="1">
                <a:solidFill>
                  <a:srgbClr val="E98A2B"/>
                </a:solidFill>
              </a:rPr>
              <a:t>최종 판정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5019E7-594C-489C-85E0-14545680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8637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12B"/>
                </a:solidFill>
              </a:defRPr>
            </a:pPr>
            <a:r>
              <a:rPr sz="1013" b="1">
                <a:solidFill>
                  <a:srgbClr val="17212B"/>
                </a:solidFill>
              </a:rPr>
              <a:t>CONDITIONAL PASS · ACT 1 creature proof는 통과, player는 source 연결 전까지 제작 금지</a:t>
            </a:r>
          </a:p>
        </p:txBody>
      </p:sp>
    </p:spTree>
    <p:extLst>
      <p:ext uri="{BB962C8B-B14F-4D97-AF65-F5344CB8AC3E}">
        <p14:creationId xmlns:p14="http://schemas.microsoft.com/office/powerpoint/2010/main" val="18991615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5D9C42-44AA-4291-83D8-BF33C6DE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3EACD-5F8A-43EC-B546-CED2E1ED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12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2100" b="1">
                <a:solidFill>
                  <a:srgbClr val="17212B"/>
                </a:solidFill>
                <a:latin typeface="Noto Sans KR Thin"/>
                <a:ea typeface="Noto Sans KR Thin"/>
                <a:cs typeface="Noto Sans KR Thin"/>
              </a:rPr>
              <a:t>v1의 정적 strip은 모션 품질을 증명하지 못했다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384A5-7E20-493F-B895-35B21F82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동일 PNG 재배치·alias 재사용·review proxy를 runtime 근거로 본 판정을 폐기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3C5AE-751C-4620-BA38-0656F498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C3BF7-5DE5-4D7D-93CE-1142F32A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01 · SUPERSEDED V1 FINDING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F59CB-8697-42EA-8430-E4BFCE72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C846D-D169-4BA8-A4EB-3F5E380E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505450" cy="2381250"/>
          </a:xfrm>
          <a:prstGeom xmlns:a="http://schemas.openxmlformats.org/drawingml/2006/main" prst="roundRect">
            <a:avLst>
              <a:gd name="adj" fmla="val 3200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D447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F36A8-EF3E-42E6-9832-784187A4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527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D4473F"/>
                </a:solidFill>
              </a:defRPr>
            </a:pPr>
            <a:r>
              <a:rPr sz="938" b="1">
                <a:solidFill>
                  <a:srgbClr val="D4473F"/>
                </a:solidFill>
              </a:rPr>
              <a:t>편향관 박쥐 · v1 REVIEW_ONLY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5a2e75838c4c63"/>
          <a:stretch xmlns:a="http://schemas.openxmlformats.org/drawingml/2006/main"/>
        </p:blipFill>
        <p:spPr>
          <a:xfrm xmlns:a="http://schemas.openxmlformats.org/drawingml/2006/main">
            <a:off x="476250" y="2049214"/>
            <a:ext cx="5353050" cy="125462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6D6603-78CE-4C04-A94A-5C3E6C29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527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D6A75"/>
                </a:solidFill>
              </a:defRPr>
            </a:pPr>
            <a:r>
              <a:rPr sz="765" b="0">
                <a:solidFill>
                  <a:srgbClr val="5D6A75"/>
                </a:solidFill>
              </a:rPr>
              <a:t>prep=idle, attack/hit=move 재사용 · 새 프레임 증거 아님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FB0337-7490-4582-BFCD-01FA5C00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5505450" cy="2381250"/>
          </a:xfrm>
          <a:prstGeom xmlns:a="http://schemas.openxmlformats.org/drawingml/2006/main" prst="roundRect">
            <a:avLst>
              <a:gd name="adj" fmla="val 3200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D4473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EE93E5-4ABB-4D98-8269-15563F18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81150"/>
            <a:ext cx="527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D4473F"/>
                </a:solidFill>
              </a:defRPr>
            </a:pPr>
            <a:r>
              <a:rPr sz="938" b="1">
                <a:solidFill>
                  <a:srgbClr val="D4473F"/>
                </a:solidFill>
              </a:rPr>
              <a:t>되감비늘 도마뱀 · v1 REVIEW_ONLY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c078845cfc4964"/>
          <a:stretch xmlns:a="http://schemas.openxmlformats.org/drawingml/2006/main"/>
        </p:blipFill>
        <p:spPr>
          <a:xfrm xmlns:a="http://schemas.openxmlformats.org/drawingml/2006/main">
            <a:off x="6362700" y="2049214"/>
            <a:ext cx="5353050" cy="1254621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C7B3A2-0409-4F03-B0BA-BB38F8D8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43300"/>
            <a:ext cx="527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D6A75"/>
                </a:solidFill>
              </a:defRPr>
            </a:pPr>
            <a:r>
              <a:rPr sz="765" b="0">
                <a:solidFill>
                  <a:srgbClr val="5D6A75"/>
                </a:solidFill>
              </a:rPr>
              <a:t>회전·이동·tint로 상태 의미를 대신함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F153FA-9052-4CB9-978E-BDABDF9F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71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D4473F"/>
                </a:solidFill>
              </a:defRPr>
            </a:pPr>
            <a:r>
              <a:rPr sz="1013" b="1">
                <a:solidFill>
                  <a:srgbClr val="D4473F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46758A-05A2-4847-9C5D-8468FBD6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502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12B"/>
                </a:solidFill>
              </a:defRPr>
            </a:pPr>
            <a:r>
              <a:rPr sz="1013" b="0">
                <a:solidFill>
                  <a:srgbClr val="17212B"/>
                </a:solidFill>
              </a:rPr>
              <a:t>주인공 proxy를 runtime source처럼 사용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E8EA10-9B6F-4AEB-A33E-3C1235AA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48150"/>
            <a:ext cx="171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D4473F"/>
                </a:solidFill>
              </a:defRPr>
            </a:pPr>
            <a:r>
              <a:rPr sz="1013" b="1">
                <a:solidFill>
                  <a:srgbClr val="D4473F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277A4B-775D-499E-A10B-BA9D4EC7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48150"/>
            <a:ext cx="502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12B"/>
                </a:solidFill>
              </a:defRPr>
            </a:pPr>
            <a:r>
              <a:rPr sz="1013" b="0">
                <a:solidFill>
                  <a:srgbClr val="17212B"/>
                </a:solidFill>
              </a:rPr>
              <a:t>정지 PNG 반복 strip을 구현 증거로 간주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93F42F-B55F-409A-829F-62B526F1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71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D4473F"/>
                </a:solidFill>
              </a:defRPr>
            </a:pPr>
            <a:r>
              <a:rPr sz="1013" b="1">
                <a:solidFill>
                  <a:srgbClr val="D4473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C77749-D18B-4AA5-819A-06A82D66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502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12B"/>
                </a:solidFill>
              </a:defRPr>
            </a:pPr>
            <a:r>
              <a:rPr sz="1013" b="0">
                <a:solidFill>
                  <a:srgbClr val="17212B"/>
                </a:solidFill>
              </a:rPr>
              <a:t>박쥐·도마뱀 prep/attack alias를 충분하다고 판정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CE8CD4-71EA-4E5F-B31D-CDC1384A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67250"/>
            <a:ext cx="171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D4473F"/>
                </a:solidFill>
              </a:defRPr>
            </a:pPr>
            <a:r>
              <a:rPr sz="1013" b="1">
                <a:solidFill>
                  <a:srgbClr val="D4473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504308-46E8-4DA5-8FB5-74ABBB42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67250"/>
            <a:ext cx="502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12B"/>
                </a:solidFill>
              </a:defRPr>
            </a:pPr>
            <a:r>
              <a:rPr sz="1013" b="0">
                <a:solidFill>
                  <a:srgbClr val="17212B"/>
                </a:solidFill>
              </a:rPr>
              <a:t>FRAME_REQUIRED 0과 대다수 PROCEDURAL_OK 결론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3C572D-7A0E-4B4D-9F0A-17F1C03B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552450"/>
          </a:xfrm>
          <a:prstGeom xmlns:a="http://schemas.openxmlformats.org/drawingml/2006/main" prst="roundRect">
            <a:avLst>
              <a:gd name="adj" fmla="val 1379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D4473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1BCB29-3FA2-4449-A749-59676B1A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D4473F"/>
                </a:solidFill>
              </a:defRPr>
            </a:pPr>
            <a:r>
              <a:rPr sz="1013" b="1">
                <a:solidFill>
                  <a:srgbClr val="D4473F"/>
                </a:solidFill>
              </a:rPr>
              <a:t>폐기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00F985-C306-484C-BCB8-4559B29B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5782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12B"/>
                </a:solidFill>
              </a:defRPr>
            </a:pPr>
            <a:r>
              <a:rPr sz="1013" b="1">
                <a:solidFill>
                  <a:srgbClr val="17212B"/>
                </a:solidFill>
              </a:rPr>
              <a:t>정적 strip을 runtime frame·animated evidence·완료 근거로 사용하는 경로 전체</a:t>
            </a:r>
          </a:p>
        </p:txBody>
      </p:sp>
    </p:spTree>
    <p:extLst>
      <p:ext uri="{BB962C8B-B14F-4D97-AF65-F5344CB8AC3E}">
        <p14:creationId xmlns:p14="http://schemas.microsoft.com/office/powerpoint/2010/main" val="4973344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5D9C42-44AA-4291-83D8-BF33C6DE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3EACD-5F8A-43EC-B546-CED2E1ED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12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2100" b="1">
                <a:solidFill>
                  <a:srgbClr val="17212B"/>
                </a:solidFill>
                <a:latin typeface="Noto Sans KR Thin"/>
                <a:ea typeface="Noto Sans KR Thin"/>
                <a:cs typeface="Noto Sans KR Thin"/>
              </a:rPr>
              <a:t>실제 파일 감사 결과, ACT 1 5종은 제작 가능하고 주인공만 차단됐다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384A5-7E20-493F-B895-35B21F82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문서 명칭이 아니라 metadata·runtime bytes·corrected source를 기준으로 판정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3C5AE-751C-4620-BA38-0656F498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C3BF7-5DE5-4D7D-93CE-1142F32A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02 · SOURCE AUDIT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F59CB-8697-42EA-8430-E4BFCE72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C0FE61-4A35-451A-B552-146A2F04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B29397-2998-4545-A171-2B0DD35F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3E6"/>
          </a:solidFill>
          <a:ln xmlns:a="http://schemas.openxmlformats.org/drawingml/2006/main" w="0">
            <a:solidFill>
              <a:srgbClr val="1473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AD8C7B-EBC4-43A6-B0B6-519DD56B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473E6"/>
                </a:solidFill>
              </a:defRPr>
            </a:pPr>
            <a:r>
              <a:rPr sz="1013" b="1">
                <a:solidFill>
                  <a:srgbClr val="1473E6"/>
                </a:solidFill>
              </a:rPr>
              <a:t>RUNTIME_SOURCE · DESIGN_SOURCE · REVIEW_ONLY를 분리하고 실제 bytes가 없는 master는 SOURCE_NOT_FOUND로 기록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24FF6-79D9-4050-B011-BCFB0E5E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947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231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0512E8-92F9-4EC5-BCEE-B947D662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0002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23142"/>
                </a:solidFill>
              </a:defRPr>
            </a:pPr>
            <a:r>
              <a:rPr sz="863" b="1">
                <a:solidFill>
                  <a:srgbClr val="223142"/>
                </a:solidFill>
              </a:rPr>
              <a:t>대상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C27F8-7C55-48CA-9877-08630520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00025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23142"/>
                </a:solidFill>
              </a:defRPr>
            </a:pPr>
            <a:r>
              <a:rPr sz="863" b="1">
                <a:solidFill>
                  <a:srgbClr val="223142"/>
                </a:solidFill>
              </a:rPr>
              <a:t>runtime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36817F-CDF4-47C4-9663-308A1851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0025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23142"/>
                </a:solidFill>
              </a:defRPr>
            </a:pPr>
            <a:r>
              <a:rPr sz="863" b="1">
                <a:solidFill>
                  <a:srgbClr val="223142"/>
                </a:solidFill>
              </a:rPr>
              <a:t>unique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52B9F9-80C4-45A1-BC33-41FD984A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00250"/>
            <a:ext cx="866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23142"/>
                </a:solidFill>
              </a:defRPr>
            </a:pPr>
            <a:r>
              <a:rPr sz="863" b="1">
                <a:solidFill>
                  <a:srgbClr val="223142"/>
                </a:solidFill>
              </a:rPr>
              <a:t>alias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7A5473-493F-4E58-B681-6D6D7F9C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00250"/>
            <a:ext cx="1009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23142"/>
                </a:solidFill>
              </a:defRPr>
            </a:pPr>
            <a:r>
              <a:rPr sz="863" b="1">
                <a:solidFill>
                  <a:srgbClr val="223142"/>
                </a:solidFill>
              </a:rPr>
              <a:t>canvas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06CE0D-2DB6-4731-90B6-AE339ED4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00250"/>
            <a:ext cx="1295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23142"/>
                </a:solidFill>
              </a:defRPr>
            </a:pPr>
            <a:r>
              <a:rPr sz="863" b="1">
                <a:solidFill>
                  <a:srgbClr val="223142"/>
                </a:solidFill>
              </a:rPr>
              <a:t>GP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5AB626-D302-4AAA-BE9C-84F0F78C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00250"/>
            <a:ext cx="1828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23142"/>
                </a:solidFill>
              </a:defRPr>
            </a:pPr>
            <a:r>
              <a:rPr sz="863" b="1">
                <a:solidFill>
                  <a:srgbClr val="223142"/>
                </a:solidFill>
              </a:rPr>
              <a:t>source 판정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95CD13-2C75-4329-B4C9-DC5CC2A4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947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6DF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D66393-44D0-495F-AE6E-921FD51E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48602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473E6"/>
                </a:solidFill>
              </a:defRPr>
            </a:pPr>
            <a:r>
              <a:rPr sz="810" b="1">
                <a:solidFill>
                  <a:srgbClr val="1473E6"/>
                </a:solidFill>
              </a:rPr>
              <a:t>주인공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5EC214-DDC0-4B50-8428-131DE94A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486025"/>
            <a:ext cx="81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12B"/>
                </a:solidFill>
              </a:defRPr>
            </a:pPr>
            <a:r>
              <a:rPr sz="810" b="0">
                <a:solidFill>
                  <a:srgbClr val="17212B"/>
                </a:solidFill>
              </a:rPr>
              <a:t>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5411CC-DCDC-48CF-B350-5011EA8D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486025"/>
            <a:ext cx="81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12B"/>
                </a:solidFill>
              </a:defRPr>
            </a:pPr>
            <a:r>
              <a:rPr sz="810" b="0">
                <a:solidFill>
                  <a:srgbClr val="17212B"/>
                </a:solidFill>
              </a:rPr>
              <a:t>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DF09F8-8437-4A6F-87DC-84924114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486025"/>
            <a:ext cx="866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12B"/>
                </a:solidFill>
              </a:defRPr>
            </a:pPr>
            <a:r>
              <a:rPr sz="810" b="0">
                <a:solidFill>
                  <a:srgbClr val="17212B"/>
                </a:solidFill>
              </a:rPr>
              <a:t>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D84AED-EEA4-4A8D-B282-CF79D390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86025"/>
            <a:ext cx="100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12B"/>
                </a:solidFill>
              </a:defRPr>
            </a:pPr>
            <a:r>
              <a:rPr sz="810" b="0">
                <a:solidFill>
                  <a:srgbClr val="17212B"/>
                </a:solidFill>
              </a:rPr>
              <a:t>미확인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EFBD6B-4F06-4BFC-899C-B8876156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86025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12B"/>
                </a:solidFill>
              </a:defRPr>
            </a:pPr>
            <a:r>
              <a:rPr sz="810" b="0">
                <a:solidFill>
                  <a:srgbClr val="17212B"/>
                </a:solidFill>
              </a:rPr>
              <a:t>미확인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0A1B7B-6CC8-45BD-A8B4-7D0E1FA0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8602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12B"/>
                </a:solidFill>
              </a:defRPr>
            </a:pPr>
            <a:r>
              <a:rPr sz="810" b="0">
                <a:solidFill>
                  <a:srgbClr val="17212B"/>
                </a:solidFill>
              </a:rPr>
              <a:t>SOURCE_BLOCKED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EB4564-C83C-46AC-8EAB-250225AA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947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6DF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2E71AC-C3F4-4932-824E-AD012C50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96227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473E6"/>
                </a:solidFill>
              </a:defRPr>
            </a:pPr>
            <a:r>
              <a:rPr sz="810" b="1">
                <a:solidFill>
                  <a:srgbClr val="1473E6"/>
                </a:solidFill>
              </a:rPr>
              <a:t>압각 칼새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894CC4-91C3-4067-AD5F-3C059F28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962275"/>
            <a:ext cx="81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12B"/>
                </a:solidFill>
              </a:defRPr>
            </a:pPr>
            <a:r>
              <a:rPr sz="810" b="0">
                <a:solidFill>
                  <a:srgbClr val="17212B"/>
                </a:solidFill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C8EFDA-ADAC-40E0-BA13-029DE7A8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962275"/>
            <a:ext cx="81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12B"/>
                </a:solidFill>
              </a:defRPr>
            </a:pPr>
            <a:r>
              <a:rPr sz="810" b="0">
                <a:solidFill>
                  <a:srgbClr val="17212B"/>
                </a:solidFill>
              </a:rPr>
              <a:t>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D99B26-F8D0-4468-9D37-651C687B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962275"/>
            <a:ext cx="866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12B"/>
                </a:solidFill>
              </a:defRPr>
            </a:pPr>
            <a:r>
              <a:rPr sz="810" b="0">
                <a:solidFill>
                  <a:srgbClr val="17212B"/>
                </a:solidFill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F9DDC2-81E8-498A-A46E-8EC186BA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62275"/>
            <a:ext cx="100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12B"/>
                </a:solidFill>
              </a:defRPr>
            </a:pPr>
            <a:r>
              <a:rPr sz="810" b="0">
                <a:solidFill>
                  <a:srgbClr val="17212B"/>
                </a:solidFill>
              </a:rPr>
              <a:t>36×24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959506-A9AE-49F9-91C8-077068D2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62275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12B"/>
                </a:solidFill>
              </a:defRPr>
            </a:pPr>
            <a:r>
              <a:rPr sz="810" b="0">
                <a:solidFill>
                  <a:srgbClr val="17212B"/>
                </a:solidFill>
              </a:rPr>
              <a:t>18,20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6FCD77-ACB1-413E-8BE6-7E897A94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6227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12B"/>
                </a:solidFill>
              </a:defRPr>
            </a:pPr>
            <a:r>
              <a:rPr sz="810" b="0">
                <a:solidFill>
                  <a:srgbClr val="17212B"/>
                </a:solidFill>
              </a:rPr>
              <a:t>RUNTIME_SOURCE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44237C-1F77-48C3-AD6B-E3685F62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947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6DF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2EA312-B64B-4EAB-A610-B3984B16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43852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473E6"/>
                </a:solidFill>
              </a:defRPr>
            </a:pPr>
            <a:r>
              <a:rPr sz="810" b="1">
                <a:solidFill>
                  <a:srgbClr val="1473E6"/>
                </a:solidFill>
              </a:rPr>
              <a:t>편향관 박쥐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5122FF-1F35-4F92-A491-D328DF15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438525"/>
            <a:ext cx="81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12B"/>
                </a:solidFill>
              </a:defRPr>
            </a:pPr>
            <a:r>
              <a:rPr sz="810" b="0">
                <a:solidFill>
                  <a:srgbClr val="17212B"/>
                </a:solidFill>
              </a:rPr>
              <a:t>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BFEF19-6595-4AF4-831E-12D7F26A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438525"/>
            <a:ext cx="81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12B"/>
                </a:solidFill>
              </a:defRPr>
            </a:pPr>
            <a:r>
              <a:rPr sz="810" b="0">
                <a:solidFill>
                  <a:srgbClr val="17212B"/>
                </a:solidFill>
              </a:rPr>
              <a:t>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7BC50C-A2F6-4D3B-94D2-46F6CD6C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438525"/>
            <a:ext cx="866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12B"/>
                </a:solidFill>
              </a:defRPr>
            </a:pPr>
            <a:r>
              <a:rPr sz="810" b="0">
                <a:solidFill>
                  <a:srgbClr val="17212B"/>
                </a:solidFill>
              </a:rPr>
              <a:t>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D0F868-97A8-406E-8EC3-AC8DAE06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438525"/>
            <a:ext cx="100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12B"/>
                </a:solidFill>
              </a:defRPr>
            </a:pPr>
            <a:r>
              <a:rPr sz="810" b="0">
                <a:solidFill>
                  <a:srgbClr val="17212B"/>
                </a:solidFill>
              </a:rPr>
              <a:t>52×36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66C873-05D5-45A8-A0E6-E8646895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38525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12B"/>
                </a:solidFill>
              </a:defRPr>
            </a:pPr>
            <a:r>
              <a:rPr sz="810" b="0">
                <a:solidFill>
                  <a:srgbClr val="17212B"/>
                </a:solidFill>
              </a:rPr>
              <a:t>26,29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120706-C8F1-47EE-B4D8-DD38B8BF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3852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12B"/>
                </a:solidFill>
              </a:defRPr>
            </a:pPr>
            <a:r>
              <a:rPr sz="810" b="0">
                <a:solidFill>
                  <a:srgbClr val="17212B"/>
                </a:solidFill>
              </a:rPr>
              <a:t>RUNTIME_SOURCE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D545BEB-7ECC-40CD-8B7F-D63FC5B8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947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6DF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AB24EBB-5574-43C6-9CBB-C9D6125C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91477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473E6"/>
                </a:solidFill>
              </a:defRPr>
            </a:pPr>
            <a:r>
              <a:rPr sz="810" b="1">
                <a:solidFill>
                  <a:srgbClr val="1473E6"/>
                </a:solidFill>
              </a:rPr>
              <a:t>되감비늘 도마뱀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1F57AF3-7BF2-4116-A66B-A2CEDB0F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914775"/>
            <a:ext cx="81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12B"/>
                </a:solidFill>
              </a:defRPr>
            </a:pPr>
            <a:r>
              <a:rPr sz="810" b="0">
                <a:solidFill>
                  <a:srgbClr val="17212B"/>
                </a:solidFill>
              </a:rPr>
              <a:t>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1EAD79B-E836-499A-A689-17B1BA03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914775"/>
            <a:ext cx="81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12B"/>
                </a:solidFill>
              </a:defRPr>
            </a:pPr>
            <a:r>
              <a:rPr sz="810" b="0">
                <a:solidFill>
                  <a:srgbClr val="17212B"/>
                </a:solidFill>
              </a:rPr>
              <a:t>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36A9994-D065-44E2-BC39-3476B1B8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914775"/>
            <a:ext cx="866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12B"/>
                </a:solidFill>
              </a:defRPr>
            </a:pPr>
            <a:r>
              <a:rPr sz="810" b="0">
                <a:solidFill>
                  <a:srgbClr val="17212B"/>
                </a:solidFill>
              </a:rPr>
              <a:t>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D3EB0DB-93FE-48DE-BCA6-DB235EF1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914775"/>
            <a:ext cx="100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12B"/>
                </a:solidFill>
              </a:defRPr>
            </a:pPr>
            <a:r>
              <a:rPr sz="810" b="0">
                <a:solidFill>
                  <a:srgbClr val="17212B"/>
                </a:solidFill>
              </a:rPr>
              <a:t>72×40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00027E3-01DA-41C5-9E6C-FF6A8109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14775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12B"/>
                </a:solidFill>
              </a:defRPr>
            </a:pPr>
            <a:r>
              <a:rPr sz="810" b="0">
                <a:solidFill>
                  <a:srgbClr val="17212B"/>
                </a:solidFill>
              </a:rPr>
              <a:t>33,34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22E0BB-CE06-4B9D-9714-598D6665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1477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12B"/>
                </a:solidFill>
              </a:defRPr>
            </a:pPr>
            <a:r>
              <a:rPr sz="810" b="0">
                <a:solidFill>
                  <a:srgbClr val="17212B"/>
                </a:solidFill>
              </a:rPr>
              <a:t>RUNTIME_SOURCE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B21CCD5-28EC-46B4-9703-D2D967AC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947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6DFE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4EC74A6-A877-48C2-8977-32CFE89C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39102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473E6"/>
                </a:solidFill>
              </a:defRPr>
            </a:pPr>
            <a:r>
              <a:rPr sz="810" b="1">
                <a:solidFill>
                  <a:srgbClr val="1473E6"/>
                </a:solidFill>
              </a:rPr>
              <a:t>광물실거미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AB78D18-C3D8-4103-A062-6631B45F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391025"/>
            <a:ext cx="81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12B"/>
                </a:solidFill>
              </a:defRPr>
            </a:pPr>
            <a:r>
              <a:rPr sz="810" b="0">
                <a:solidFill>
                  <a:srgbClr val="17212B"/>
                </a:solidFill>
              </a:rPr>
              <a:t>7 corrected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FE0DA7F-203F-49EA-8FD7-5A9173F6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391025"/>
            <a:ext cx="81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12B"/>
                </a:solidFill>
              </a:defRPr>
            </a:pPr>
            <a:r>
              <a:rPr sz="810" b="0">
                <a:solidFill>
                  <a:srgbClr val="17212B"/>
                </a:solidFill>
              </a:rPr>
              <a:t>7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2C9321B-628A-4907-A9EB-B4FF9300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391025"/>
            <a:ext cx="866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12B"/>
                </a:solidFill>
              </a:defRPr>
            </a:pPr>
            <a:r>
              <a:rPr sz="810" b="0">
                <a:solidFill>
                  <a:srgbClr val="17212B"/>
                </a:solidFill>
              </a:rPr>
              <a:t>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AFC9DF7-207B-4752-B916-EBD8DC01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391025"/>
            <a:ext cx="100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12B"/>
                </a:solidFill>
              </a:defRPr>
            </a:pPr>
            <a:r>
              <a:rPr sz="810" b="0">
                <a:solidFill>
                  <a:srgbClr val="17212B"/>
                </a:solidFill>
              </a:rPr>
              <a:t>104×88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DE2014B-1931-4B01-B6AB-636E57DD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91025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12B"/>
                </a:solidFill>
              </a:defRPr>
            </a:pPr>
            <a:r>
              <a:rPr sz="810" b="0">
                <a:solidFill>
                  <a:srgbClr val="17212B"/>
                </a:solidFill>
              </a:rPr>
              <a:t>52,72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A687E03-3FDA-4E8D-B102-A365A6C8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9102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12B"/>
                </a:solidFill>
              </a:defRPr>
            </a:pPr>
            <a:r>
              <a:rPr sz="810" b="0">
                <a:solidFill>
                  <a:srgbClr val="17212B"/>
                </a:solidFill>
              </a:rPr>
              <a:t>RUNTIME_SOURCE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7E67E53-4BA8-49EF-93C2-8D200CC5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947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6DFE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7C699FC-1E63-4E3C-94DA-F5BA9A5A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86727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473E6"/>
                </a:solidFill>
              </a:defRPr>
            </a:pPr>
            <a:r>
              <a:rPr sz="810" b="1">
                <a:solidFill>
                  <a:srgbClr val="1473E6"/>
                </a:solidFill>
              </a:rPr>
              <a:t>반향각 산양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C4435DF-DC52-432E-8CCA-1F9B18FF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867275"/>
            <a:ext cx="81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12B"/>
                </a:solidFill>
              </a:defRPr>
            </a:pPr>
            <a:r>
              <a:rPr sz="810" b="0">
                <a:solidFill>
                  <a:srgbClr val="17212B"/>
                </a:solidFill>
              </a:rPr>
              <a:t>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F4B56CF-24EB-4DD8-A9F9-98107B0F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867275"/>
            <a:ext cx="81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12B"/>
                </a:solidFill>
              </a:defRPr>
            </a:pPr>
            <a:r>
              <a:rPr sz="810" b="0">
                <a:solidFill>
                  <a:srgbClr val="17212B"/>
                </a:solidFill>
              </a:rPr>
              <a:t>4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65E0EBF-5461-4DF1-8A18-1F3FEEDB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867275"/>
            <a:ext cx="866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12B"/>
                </a:solidFill>
              </a:defRPr>
            </a:pPr>
            <a:r>
              <a:rPr sz="810" b="0">
                <a:solidFill>
                  <a:srgbClr val="17212B"/>
                </a:solidFill>
              </a:rPr>
              <a:t>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14868B8-1F32-43BD-8C61-2F8FE27C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867275"/>
            <a:ext cx="100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12B"/>
                </a:solidFill>
              </a:defRPr>
            </a:pPr>
            <a:r>
              <a:rPr sz="810" b="0">
                <a:solidFill>
                  <a:srgbClr val="17212B"/>
                </a:solidFill>
              </a:rPr>
              <a:t>220×175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C245B1F-D8CD-4FB0-B35D-9FE8EFE9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67275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12B"/>
                </a:solidFill>
              </a:defRPr>
            </a:pPr>
            <a:r>
              <a:rPr sz="810" b="0">
                <a:solidFill>
                  <a:srgbClr val="17212B"/>
                </a:solidFill>
              </a:rPr>
              <a:t>110,154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562E09F-EB04-4272-87B7-696D4933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6727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12B"/>
                </a:solidFill>
              </a:defRPr>
            </a:pPr>
            <a:r>
              <a:rPr sz="810" b="0">
                <a:solidFill>
                  <a:srgbClr val="17212B"/>
                </a:solidFill>
              </a:rPr>
              <a:t>RUNTIME_SOURCE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D6AB1B3-BBF8-4669-808A-83D45E7E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1391900" cy="552450"/>
          </a:xfrm>
          <a:prstGeom xmlns:a="http://schemas.openxmlformats.org/drawingml/2006/main" prst="roundRect">
            <a:avLst>
              <a:gd name="adj" fmla="val 1379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E98A2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AE62C8D-8786-403E-891D-36A7AAE1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E98A2B"/>
                </a:solidFill>
              </a:defRPr>
            </a:pPr>
            <a:r>
              <a:rPr sz="1013" b="1">
                <a:solidFill>
                  <a:srgbClr val="E98A2B"/>
                </a:solidFill>
              </a:rPr>
              <a:t>timing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9D882A2-43B6-4303-9B5B-ACC08781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59117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12B"/>
                </a:solidFill>
              </a:defRPr>
            </a:pPr>
            <a:r>
              <a:rPr sz="1013" b="1">
                <a:solidFill>
                  <a:srgbClr val="17212B"/>
                </a:solidFill>
              </a:rPr>
              <a:t>실제 duration·hit timestamp 숫자는 노출되지 않아 새 값을 만들지 않고 기존 engine 값에 바인딩</a:t>
            </a:r>
          </a:p>
        </p:txBody>
      </p:sp>
    </p:spTree>
    <p:extLst>
      <p:ext uri="{BB962C8B-B14F-4D97-AF65-F5344CB8AC3E}">
        <p14:creationId xmlns:p14="http://schemas.microsoft.com/office/powerpoint/2010/main" val="4973344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5D9C42-44AA-4291-83D8-BF33C6DE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3EACD-5F8A-43EC-B546-CED2E1ED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12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2100" b="1">
                <a:solidFill>
                  <a:srgbClr val="17212B"/>
                </a:solidFill>
                <a:latin typeface="Noto Sans KR Thin"/>
                <a:ea typeface="Noto Sans KR Thin"/>
                <a:cs typeface="Noto Sans KR Thin"/>
              </a:rPr>
              <a:t>주인공 자료는 디자인 근거이지 runtime frame 원본이 아니다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384A5-7E20-493F-B895-35B21F82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26-key-pose 보드와 콘셉트 원본은 보존하되 runtime 후보로 잘라 쓰지 않음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3C5AE-751C-4620-BA38-0656F498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C3BF7-5DE5-4D7D-93CE-1142F32A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03 · PLAYER SOURCE CLASSIFICATION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F59CB-8697-42EA-8430-E4BFCE72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18BD6-68A9-4AB7-9360-EFD2394F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5505450" cy="3486150"/>
          </a:xfrm>
          <a:prstGeom xmlns:a="http://schemas.openxmlformats.org/drawingml/2006/main" prst="roundRect">
            <a:avLst>
              <a:gd name="adj" fmla="val 2186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E98A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7268BB-FE15-44D3-91D5-C7051B97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527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E98A2B"/>
                </a:solidFill>
              </a:defRPr>
            </a:pPr>
            <a:r>
              <a:rPr sz="938" b="1">
                <a:solidFill>
                  <a:srgbClr val="E98A2B"/>
                </a:solidFill>
              </a:rPr>
              <a:t>DESIGN_SOURCE · KEYPOSE BOARD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a7a15ee1df4ea2"/>
          <a:stretch xmlns:a="http://schemas.openxmlformats.org/drawingml/2006/main"/>
        </p:blipFill>
        <p:spPr>
          <a:xfrm xmlns:a="http://schemas.openxmlformats.org/drawingml/2006/main">
            <a:off x="731308" y="1905000"/>
            <a:ext cx="4842933" cy="27241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8660C9-DE91-4C9E-8D7F-F04D41B0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527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D6A75"/>
                </a:solidFill>
              </a:defRPr>
            </a:pPr>
            <a:r>
              <a:rPr sz="765" b="0">
                <a:solidFill>
                  <a:srgbClr val="5D6A75"/>
                </a:solidFill>
              </a:rPr>
              <a:t>이미지 자체에 ‘최종 애니메이션 아님’ 표기 · 개별 투명 원본 아님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43AD16-7828-48D5-ABFD-34FE96C8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62100"/>
            <a:ext cx="5505450" cy="3486150"/>
          </a:xfrm>
          <a:prstGeom xmlns:a="http://schemas.openxmlformats.org/drawingml/2006/main" prst="roundRect">
            <a:avLst>
              <a:gd name="adj" fmla="val 2186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E98A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F5083A-7A53-40D5-8703-0B946573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19250"/>
            <a:ext cx="527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E98A2B"/>
                </a:solidFill>
              </a:defRPr>
            </a:pPr>
            <a:r>
              <a:rPr sz="938" b="1">
                <a:solidFill>
                  <a:srgbClr val="E98A2B"/>
                </a:solidFill>
              </a:rPr>
              <a:t>DESIGN_SOURCE · CONCEPT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2d79a4c9be4cc7"/>
          <a:stretch xmlns:a="http://schemas.openxmlformats.org/drawingml/2006/main"/>
        </p:blipFill>
        <p:spPr>
          <a:xfrm xmlns:a="http://schemas.openxmlformats.org/drawingml/2006/main">
            <a:off x="7949176" y="1905000"/>
            <a:ext cx="2180097" cy="2724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C5458D-4028-466B-B379-A4B3C46F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86300"/>
            <a:ext cx="527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D6A75"/>
                </a:solidFill>
              </a:defRPr>
            </a:pPr>
            <a:r>
              <a:rPr sz="765" b="0">
                <a:solidFill>
                  <a:srgbClr val="5D6A75"/>
                </a:solidFill>
              </a:rPr>
              <a:t>외형·장비·단검 손 설계 참고 · 방향/state/canvas authority 아님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E3DAFE-597C-4A55-BBC8-2A6EFD58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1391900" cy="552450"/>
          </a:xfrm>
          <a:prstGeom xmlns:a="http://schemas.openxmlformats.org/drawingml/2006/main" prst="roundRect">
            <a:avLst>
              <a:gd name="adj" fmla="val 1379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D4473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D0B5E5-4DE9-4986-9B19-4CC0F706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102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D4473F"/>
                </a:solidFill>
              </a:defRPr>
            </a:pPr>
            <a:r>
              <a:rPr sz="1013" b="1">
                <a:solidFill>
                  <a:srgbClr val="D4473F"/>
                </a:solidFill>
              </a:rPr>
              <a:t>RUNTIME 없음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1089A6-CD14-4C2E-BE43-6A012805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0067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12B"/>
                </a:solidFill>
              </a:defRPr>
            </a:pPr>
            <a:r>
              <a:rPr sz="1013" b="1">
                <a:solidFill>
                  <a:srgbClr val="17212B"/>
                </a:solidFill>
              </a:rPr>
              <a:t>idle·move 8방향, dash, attack, parry, hit, word, combat end, canvas·GP·dagger-tip anchor 모두 미확인</a:t>
            </a:r>
          </a:p>
        </p:txBody>
      </p:sp>
    </p:spTree>
    <p:extLst>
      <p:ext uri="{BB962C8B-B14F-4D97-AF65-F5344CB8AC3E}">
        <p14:creationId xmlns:p14="http://schemas.microsoft.com/office/powerpoint/2010/main" val="4973344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5D9C42-44AA-4291-83D8-BF33C6DE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3EACD-5F8A-43EC-B546-CED2E1ED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12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2100" b="1">
                <a:solidFill>
                  <a:srgbClr val="17212B"/>
                </a:solidFill>
                <a:latin typeface="Noto Sans KR Thin"/>
                <a:ea typeface="Noto Sans KR Thin"/>
                <a:cs typeface="Noto Sans KR Thin"/>
              </a:rPr>
              <a:t>주인공 S/E 실제 시퀀스는 만들지 않았다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384A5-7E20-493F-B895-35B21F82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원본이 없는 상태에서 proxy를 재생산하지 않는 것이 이번 복구 작업의 필수 품질 게이트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3C5AE-751C-4620-BA38-0656F498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C3BF7-5DE5-4D7D-93CE-1142F32A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03 · PLAYER S/E SOURCE BLOCKER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F59CB-8697-42EA-8430-E4BFCE72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81906-B43F-485E-BAF3-8B4F88D1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AF0E26-3900-46EF-BD0A-A6BBCA79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8A2B"/>
          </a:solidFill>
          <a:ln xmlns:a="http://schemas.openxmlformats.org/drawingml/2006/main" w="0">
            <a:solidFill>
              <a:srgbClr val="E98A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0B5444-7282-4AD2-B64B-4C1A1AFC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E98A2B"/>
                </a:solidFill>
              </a:defRPr>
            </a:pPr>
            <a:r>
              <a:rPr sz="1013" b="1">
                <a:solidFill>
                  <a:srgbClr val="E98A2B"/>
                </a:solidFill>
              </a:rPr>
              <a:t>S/E 방향을 포함한 8방향 원본과 개별 과거 key pose 원본이 함께 연결되어야 제작 재개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F40A25-B5AB-49B5-8201-E0CA280D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231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377AC5-CFA2-4D12-B568-1F89BC38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019300"/>
            <a:ext cx="1866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23142"/>
                </a:solidFill>
              </a:defRPr>
            </a:pPr>
            <a:r>
              <a:rPr sz="863" b="1">
                <a:solidFill>
                  <a:srgbClr val="223142"/>
                </a:solidFill>
              </a:rPr>
              <a:t>sequence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DEED9D-AD8D-42BB-BEF7-9A6DEA75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019300"/>
            <a:ext cx="1866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23142"/>
                </a:solidFill>
              </a:defRPr>
            </a:pPr>
            <a:r>
              <a:rPr sz="863" b="1">
                <a:solidFill>
                  <a:srgbClr val="223142"/>
                </a:solidFill>
              </a:rPr>
              <a:t>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8A80E0-4301-4CD0-92AB-303AEC6F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019300"/>
            <a:ext cx="1866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23142"/>
                </a:solidFill>
              </a:defRPr>
            </a:pPr>
            <a:r>
              <a:rPr sz="863" b="1">
                <a:solidFill>
                  <a:srgbClr val="223142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6424E6-8B09-40FA-89FA-12FF0D3B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019300"/>
            <a:ext cx="1866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23142"/>
                </a:solidFill>
              </a:defRPr>
            </a:pPr>
            <a:r>
              <a:rPr sz="863" b="1">
                <a:solidFill>
                  <a:srgbClr val="223142"/>
                </a:solidFill>
              </a:rPr>
              <a:t>frame requirement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0F8E52-B1D4-4E42-B683-257601F0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019300"/>
            <a:ext cx="32575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23142"/>
                </a:solidFill>
              </a:defRPr>
            </a:pPr>
            <a:r>
              <a:rPr sz="863" b="1">
                <a:solidFill>
                  <a:srgbClr val="223142"/>
                </a:solidFill>
              </a:rPr>
              <a:t>중단 이유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793780-ED52-4124-A025-65E2BCE9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0507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6DF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B44C39-5110-4565-B353-154BC406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514600"/>
            <a:ext cx="1866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1473E6"/>
                </a:solidFill>
              </a:defRPr>
            </a:pPr>
            <a:r>
              <a:rPr sz="803" b="1">
                <a:solidFill>
                  <a:srgbClr val="1473E6"/>
                </a:solidFill>
              </a:rPr>
              <a:t>idle / move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03A755-6E30-451D-AE37-8CE1C663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514600"/>
            <a:ext cx="1866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212B"/>
                </a:solidFill>
              </a:defRPr>
            </a:pPr>
            <a:r>
              <a:rPr sz="803" b="0">
                <a:solidFill>
                  <a:srgbClr val="17212B"/>
                </a:solidFill>
              </a:rPr>
              <a:t>SOURCE_BLOCKED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DE6B7C-DC4C-4932-B3F4-A1CEDA65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514600"/>
            <a:ext cx="1866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212B"/>
                </a:solidFill>
              </a:defRPr>
            </a:pPr>
            <a:r>
              <a:rPr sz="803" b="0">
                <a:solidFill>
                  <a:srgbClr val="17212B"/>
                </a:solidFill>
              </a:rPr>
              <a:t>SOURCE_BLOCKED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A75642-5C71-4A41-9B28-6F83FD57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514600"/>
            <a:ext cx="1866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212B"/>
                </a:solidFill>
              </a:defRPr>
            </a:pPr>
            <a:r>
              <a:rPr sz="803" b="0">
                <a:solidFill>
                  <a:srgbClr val="17212B"/>
                </a:solidFill>
              </a:rPr>
              <a:t>4 / 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F0EECF-415B-4ADB-A0F8-D8CA1B96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514600"/>
            <a:ext cx="325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212B"/>
                </a:solidFill>
              </a:defRPr>
            </a:pPr>
            <a:r>
              <a:rPr sz="803" b="0">
                <a:solidFill>
                  <a:srgbClr val="17212B"/>
                </a:solidFill>
              </a:rPr>
              <a:t>direction PNG 없음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9593E4-2810-4DB4-9452-302BB944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0850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6DF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F5BA55-4F5B-4D50-AF38-9A1ED307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000375"/>
            <a:ext cx="1866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1473E6"/>
                </a:solidFill>
              </a:defRPr>
            </a:pPr>
            <a:r>
              <a:rPr sz="803" b="1">
                <a:solidFill>
                  <a:srgbClr val="1473E6"/>
                </a:solidFill>
              </a:rPr>
              <a:t>dash / attack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0C5412-3C93-4950-85C4-C949CE62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000375"/>
            <a:ext cx="1866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212B"/>
                </a:solidFill>
              </a:defRPr>
            </a:pPr>
            <a:r>
              <a:rPr sz="803" b="0">
                <a:solidFill>
                  <a:srgbClr val="17212B"/>
                </a:solidFill>
              </a:rPr>
              <a:t>SOURCE_BLOCKED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299386-97D0-4B2F-BD1B-E7B28D3E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000375"/>
            <a:ext cx="1866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212B"/>
                </a:solidFill>
              </a:defRPr>
            </a:pPr>
            <a:r>
              <a:rPr sz="803" b="0">
                <a:solidFill>
                  <a:srgbClr val="17212B"/>
                </a:solidFill>
              </a:rPr>
              <a:t>SOURCE_BLOCKED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897F6F-81DB-41E3-A433-CE5BF4CF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000375"/>
            <a:ext cx="1866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212B"/>
                </a:solidFill>
              </a:defRPr>
            </a:pPr>
            <a:r>
              <a:rPr sz="803" b="0">
                <a:solidFill>
                  <a:srgbClr val="17212B"/>
                </a:solidFill>
              </a:rPr>
              <a:t>4 / 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639B87-DCF2-4DB8-9A7D-8C23C694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000375"/>
            <a:ext cx="325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212B"/>
                </a:solidFill>
              </a:defRPr>
            </a:pPr>
            <a:r>
              <a:rPr sz="803" b="0">
                <a:solidFill>
                  <a:srgbClr val="17212B"/>
                </a:solidFill>
              </a:rPr>
              <a:t>dagger hand·anchor 없음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5E4920-FDE0-4536-9CBD-5CAE5E29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7662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6DF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D50593-DFDD-494C-B08D-E05A98FF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486150"/>
            <a:ext cx="1866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1473E6"/>
                </a:solidFill>
              </a:defRPr>
            </a:pPr>
            <a:r>
              <a:rPr sz="803" b="1">
                <a:solidFill>
                  <a:srgbClr val="1473E6"/>
                </a:solidFill>
              </a:rPr>
              <a:t>parry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2DF75F-35A0-485C-BB86-1E5B2520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486150"/>
            <a:ext cx="1866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212B"/>
                </a:solidFill>
              </a:defRPr>
            </a:pPr>
            <a:r>
              <a:rPr sz="803" b="0">
                <a:solidFill>
                  <a:srgbClr val="17212B"/>
                </a:solidFill>
              </a:rPr>
              <a:t>SOURCE_BLOCKED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C9F126-7550-4862-8C88-E2F906A4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486150"/>
            <a:ext cx="1866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212B"/>
                </a:solidFill>
              </a:defRPr>
            </a:pPr>
            <a:r>
              <a:rPr sz="803" b="0">
                <a:solidFill>
                  <a:srgbClr val="17212B"/>
                </a:solidFill>
              </a:rPr>
              <a:t>SOURCE_BLOCKED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D47A07-DE4E-44C1-96B3-C508E54A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486150"/>
            <a:ext cx="1866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212B"/>
                </a:solidFill>
              </a:defRPr>
            </a:pPr>
            <a:r>
              <a:rPr sz="803" b="0">
                <a:solidFill>
                  <a:srgbClr val="17212B"/>
                </a:solidFill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F74F9B-2B87-4B32-82C0-A8A4E379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486150"/>
            <a:ext cx="325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212B"/>
                </a:solidFill>
              </a:defRPr>
            </a:pPr>
            <a:r>
              <a:rPr sz="803" b="0">
                <a:solidFill>
                  <a:srgbClr val="17212B"/>
                </a:solidFill>
              </a:rPr>
              <a:t>success/fail 원본 없음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6B8BE6-E16F-4355-972A-63EAE761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6DF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C162A3-36D6-4DF3-AC28-E4B266DC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971925"/>
            <a:ext cx="1866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1473E6"/>
                </a:solidFill>
              </a:defRPr>
            </a:pPr>
            <a:r>
              <a:rPr sz="803" b="1">
                <a:solidFill>
                  <a:srgbClr val="1473E6"/>
                </a:solidFill>
              </a:rPr>
              <a:t>word skill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A3ECE4-9369-4206-BA65-6F3460E4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971925"/>
            <a:ext cx="1866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212B"/>
                </a:solidFill>
              </a:defRPr>
            </a:pPr>
            <a:r>
              <a:rPr sz="803" b="0">
                <a:solidFill>
                  <a:srgbClr val="17212B"/>
                </a:solidFill>
              </a:rPr>
              <a:t>SOURCE_BLOCKED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FF3659-82E4-46BA-AF85-FE3C76EF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971925"/>
            <a:ext cx="1866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212B"/>
                </a:solidFill>
              </a:defRPr>
            </a:pPr>
            <a:r>
              <a:rPr sz="803" b="0">
                <a:solidFill>
                  <a:srgbClr val="17212B"/>
                </a:solidFill>
              </a:rPr>
              <a:t>SOURCE_BLOCKED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90BED6-E463-4793-AD7E-F96B7131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971925"/>
            <a:ext cx="1866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212B"/>
                </a:solidFill>
              </a:defRPr>
            </a:pPr>
            <a:r>
              <a:rPr sz="803" b="0">
                <a:solidFill>
                  <a:srgbClr val="17212B"/>
                </a:solidFill>
              </a:rPr>
              <a:t>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28E13E-F4AF-4EAA-9B24-3290F552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971925"/>
            <a:ext cx="325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212B"/>
                </a:solidFill>
              </a:defRPr>
            </a:pPr>
            <a:r>
              <a:rPr sz="803" b="0">
                <a:solidFill>
                  <a:srgbClr val="17212B"/>
                </a:solidFill>
              </a:rPr>
              <a:t>body cue source 없음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DA98136-9D49-4C65-99D8-82FA04EE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11391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6DF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F396B2-71A3-4FDE-A854-56BF1CDC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457700"/>
            <a:ext cx="1866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1473E6"/>
                </a:solidFill>
              </a:defRPr>
            </a:pPr>
            <a:r>
              <a:rPr sz="803" b="1">
                <a:solidFill>
                  <a:srgbClr val="1473E6"/>
                </a:solidFill>
              </a:rPr>
              <a:t>hit / recover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ACCE4D-8863-4219-9DF1-830EBF66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457700"/>
            <a:ext cx="1866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212B"/>
                </a:solidFill>
              </a:defRPr>
            </a:pPr>
            <a:r>
              <a:rPr sz="803" b="0">
                <a:solidFill>
                  <a:srgbClr val="17212B"/>
                </a:solidFill>
              </a:rPr>
              <a:t>SOURCE_BLOCKED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91B7F41-D2C0-46B0-934F-F28EE65C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457700"/>
            <a:ext cx="1866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212B"/>
                </a:solidFill>
              </a:defRPr>
            </a:pPr>
            <a:r>
              <a:rPr sz="803" b="0">
                <a:solidFill>
                  <a:srgbClr val="17212B"/>
                </a:solidFill>
              </a:rPr>
              <a:t>SOURCE_BLOCKED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743E60-9C86-4444-9ECF-C7484ADC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457700"/>
            <a:ext cx="1866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212B"/>
                </a:solidFill>
              </a:defRPr>
            </a:pPr>
            <a:r>
              <a:rPr sz="803" b="0">
                <a:solidFill>
                  <a:srgbClr val="17212B"/>
                </a:solidFill>
              </a:rPr>
              <a:t>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7CB5587-6512-4399-9DB8-AD4A0A42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457700"/>
            <a:ext cx="3257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03" b="0">
                <a:solidFill>
                  <a:srgbClr val="17212B"/>
                </a:solidFill>
              </a:defRPr>
            </a:pPr>
            <a:r>
              <a:rPr sz="803" b="0">
                <a:solidFill>
                  <a:srgbClr val="17212B"/>
                </a:solidFill>
              </a:rPr>
              <a:t>hit state source 없음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ED67BFD-DB02-4E26-9284-564C4AC4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552450"/>
          </a:xfrm>
          <a:prstGeom xmlns:a="http://schemas.openxmlformats.org/drawingml/2006/main" prst="roundRect">
            <a:avLst>
              <a:gd name="adj" fmla="val 1379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D4473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A437285-2423-4E1C-BD06-C2344FEE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959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D4473F"/>
                </a:solidFill>
              </a:defRPr>
            </a:pPr>
            <a:r>
              <a:rPr sz="1013" b="1">
                <a:solidFill>
                  <a:srgbClr val="D4473F"/>
                </a:solidFill>
              </a:rPr>
              <a:t>생성하지 않음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FE3EFD9-1C59-4DC4-A1F0-A50AA101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8637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12B"/>
                </a:solidFill>
              </a:defRPr>
            </a:pPr>
            <a:r>
              <a:rPr sz="1013" b="1">
                <a:solidFill>
                  <a:srgbClr val="17212B"/>
                </a:solidFill>
              </a:rPr>
              <a:t>player frame PNG 0 · sprite sheet 0 · preview MP4 0 · gameplay composite 0</a:t>
            </a:r>
          </a:p>
        </p:txBody>
      </p:sp>
    </p:spTree>
    <p:extLst>
      <p:ext uri="{BB962C8B-B14F-4D97-AF65-F5344CB8AC3E}">
        <p14:creationId xmlns:p14="http://schemas.microsoft.com/office/powerpoint/2010/main" val="4973344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1F504B-9DF7-4100-8BB1-B639B92B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84ECE-E3D6-4AA3-9279-115CE0ED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12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2100" b="1">
                <a:solidFill>
                  <a:srgbClr val="17212B"/>
                </a:solidFill>
                <a:latin typeface="Noto Sans KR Thin"/>
                <a:ea typeface="Noto Sans KR Thin"/>
                <a:cs typeface="Noto Sans KR Thin"/>
              </a:rPr>
              <a:t>파일럿은 99개의 실제 자세 변화 프레임으로 구성된다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EFABB-01E9-4C61-B22E-5A3B785E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5종 · 25 sequence · 25 sprite-sheet candidate · 19 review MP4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C2767-AE07-476D-8C71-D11D8208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F6772-E47D-42AC-84AD-74845362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04 · PILOT FRAME INVENTORY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12FD83-4F9E-4655-966C-F18BEB5D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6A13F2-DC4E-4F14-BF33-A4BEADD6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3638550" cy="1733550"/>
          </a:xfrm>
          <a:prstGeom xmlns:a="http://schemas.openxmlformats.org/drawingml/2006/main" prst="roundRect">
            <a:avLst>
              <a:gd name="adj" fmla="val 4396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2B9B6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FA536F-F652-4848-BEBD-4957150B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B9B6F"/>
                </a:solidFill>
              </a:defRPr>
            </a:pPr>
            <a:r>
              <a:rPr sz="3150" b="1">
                <a:solidFill>
                  <a:srgbClr val="2B9B6F"/>
                </a:solidFill>
              </a:rPr>
              <a:t>99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44B44-824C-4319-86D5-FC16FB67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88595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9B6F"/>
                </a:solidFill>
              </a:defRPr>
            </a:pPr>
            <a:r>
              <a:rPr sz="1125" b="1">
                <a:solidFill>
                  <a:srgbClr val="2B9B6F"/>
                </a:solidFill>
              </a:rPr>
              <a:t>ACT 1 FRAMES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BC370-DC7C-4636-AF3C-24A76801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14600"/>
            <a:ext cx="3181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7212B"/>
                </a:solidFill>
              </a:defRPr>
            </a:pPr>
            <a:r>
              <a:rPr sz="938" b="1">
                <a:solidFill>
                  <a:srgbClr val="17212B"/>
                </a:solidFill>
              </a:rPr>
              <a:t>칼새 10 · 박쥐 20 · 도마뱀 20</a:t>
            </a:r>
          </a:p>
          <a:p xmlns:a="http://schemas.openxmlformats.org/drawingml/2006/main">
            <a:pPr algn="ctr">
              <a:defRPr sz="938" b="1">
                <a:solidFill>
                  <a:srgbClr val="17212B"/>
                </a:solidFill>
              </a:defRPr>
            </a:pPr>
            <a:r>
              <a:rPr sz="938" b="1">
                <a:solidFill>
                  <a:srgbClr val="17212B"/>
                </a:solidFill>
              </a:rPr>
              <a:t>거미 26 · 산양 23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853DD0-D657-487C-8D0D-39AB28D0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57350"/>
            <a:ext cx="3638550" cy="1733550"/>
          </a:xfrm>
          <a:prstGeom xmlns:a="http://schemas.openxmlformats.org/drawingml/2006/main" prst="roundRect">
            <a:avLst>
              <a:gd name="adj" fmla="val 4396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1473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A3E726-1902-44B3-A2E7-88686E6A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097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473E6"/>
                </a:solidFill>
              </a:defRPr>
            </a:pPr>
            <a:r>
              <a:rPr sz="3150" b="1">
                <a:solidFill>
                  <a:srgbClr val="1473E6"/>
                </a:solidFill>
              </a:rPr>
              <a:t>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494F4E-2723-4710-97DE-FB757015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88595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3E6"/>
                </a:solidFill>
              </a:defRPr>
            </a:pPr>
            <a:r>
              <a:rPr sz="1125" b="1">
                <a:solidFill>
                  <a:srgbClr val="1473E6"/>
                </a:solidFill>
              </a:rPr>
              <a:t>SEQUENCES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72AC9D-A33E-48F1-B237-F436BAA6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14600"/>
            <a:ext cx="3181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7212B"/>
                </a:solidFill>
              </a:defRPr>
            </a:pPr>
            <a:r>
              <a:rPr sz="938" b="1">
                <a:solidFill>
                  <a:srgbClr val="17212B"/>
                </a:solidFill>
              </a:rPr>
              <a:t>fly/evade부터 charge/recover까지</a:t>
            </a:r>
          </a:p>
          <a:p xmlns:a="http://schemas.openxmlformats.org/drawingml/2006/main">
            <a:pPr algn="ctr">
              <a:defRPr sz="938" b="1">
                <a:solidFill>
                  <a:srgbClr val="17212B"/>
                </a:solidFill>
              </a:defRPr>
            </a:pPr>
            <a:r>
              <a:rPr sz="938" b="1">
                <a:solidFill>
                  <a:srgbClr val="17212B"/>
                </a:solidFill>
              </a:rPr>
              <a:t>semantic state 추가 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814BE0-48BB-4051-8589-E692E0FC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57350"/>
            <a:ext cx="3638550" cy="1733550"/>
          </a:xfrm>
          <a:prstGeom xmlns:a="http://schemas.openxmlformats.org/drawingml/2006/main" prst="roundRect">
            <a:avLst>
              <a:gd name="adj" fmla="val 4396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E98A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881284-294B-449C-A628-473E9E3E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097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E98A2B"/>
                </a:solidFill>
              </a:defRPr>
            </a:pPr>
            <a:r>
              <a:rPr sz="3150" b="1">
                <a:solidFill>
                  <a:srgbClr val="E98A2B"/>
                </a:solidFill>
              </a:rPr>
              <a:t>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8A54F1-2FDE-4A91-8E56-EF55A0E2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8595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98A2B"/>
                </a:solidFill>
              </a:defRPr>
            </a:pPr>
            <a:r>
              <a:rPr sz="1125" b="1">
                <a:solidFill>
                  <a:srgbClr val="E98A2B"/>
                </a:solidFill>
              </a:rPr>
              <a:t>UNIQUE CANDIDATE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3597FF-6C42-46F5-8A2B-4D566AF3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14600"/>
            <a:ext cx="3181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7212B"/>
                </a:solidFill>
              </a:defRPr>
            </a:pPr>
            <a:r>
              <a:rPr sz="938" b="1">
                <a:solidFill>
                  <a:srgbClr val="17212B"/>
                </a:solidFill>
              </a:rPr>
              <a:t>박쥐 prep/attack/hit 10</a:t>
            </a:r>
          </a:p>
          <a:p xmlns:a="http://schemas.openxmlformats.org/drawingml/2006/main">
            <a:pPr algn="ctr">
              <a:defRPr sz="938" b="1">
                <a:solidFill>
                  <a:srgbClr val="17212B"/>
                </a:solidFill>
              </a:defRPr>
            </a:pPr>
            <a:r>
              <a:rPr sz="938" b="1">
                <a:solidFill>
                  <a:srgbClr val="17212B"/>
                </a:solidFill>
              </a:rPr>
              <a:t>도마뱀 prep/attack/hit 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47542E-0954-45FA-BD47-73624713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11391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231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7B2E77-D066-4124-B78C-9583EF88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733800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23142"/>
                </a:solidFill>
              </a:defRPr>
            </a:pPr>
            <a:r>
              <a:rPr sz="863" b="1">
                <a:solidFill>
                  <a:srgbClr val="223142"/>
                </a:solidFill>
              </a:rPr>
              <a:t>대상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4C1EED-E97A-4BDE-8E51-A23EBDD1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733800"/>
            <a:ext cx="2057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23142"/>
                </a:solidFill>
              </a:defRPr>
            </a:pPr>
            <a:r>
              <a:rPr sz="863" b="1">
                <a:solidFill>
                  <a:srgbClr val="223142"/>
                </a:solidFill>
              </a:rPr>
              <a:t>frame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7E400B-A3B8-4751-907D-32362C8E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733800"/>
            <a:ext cx="2057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23142"/>
                </a:solidFill>
              </a:defRPr>
            </a:pPr>
            <a:r>
              <a:rPr sz="863" b="1">
                <a:solidFill>
                  <a:srgbClr val="223142"/>
                </a:solidFill>
              </a:rPr>
              <a:t>sequence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BCBF66-A9E9-4BF8-A7DF-B47FCA1E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733800"/>
            <a:ext cx="2057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23142"/>
                </a:solidFill>
              </a:defRPr>
            </a:pPr>
            <a:r>
              <a:rPr sz="863" b="1">
                <a:solidFill>
                  <a:srgbClr val="223142"/>
                </a:solidFill>
              </a:rPr>
              <a:t>재판정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AB4650-00A1-4741-8A5E-65E24EBC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73380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23142"/>
                </a:solidFill>
              </a:defRPr>
            </a:pPr>
            <a:r>
              <a:rPr sz="863" b="1">
                <a:solidFill>
                  <a:srgbClr val="223142"/>
                </a:solidFill>
              </a:rPr>
              <a:t>runtime role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705752-F4EC-4E5D-B7DD-6139B4D4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11391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6DF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A72A42-52E8-4C30-8DD3-9A6214F5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181475"/>
            <a:ext cx="2343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1473E6"/>
                </a:solidFill>
              </a:defRPr>
            </a:pPr>
            <a:r>
              <a:rPr sz="773" b="1">
                <a:solidFill>
                  <a:srgbClr val="1473E6"/>
                </a:solidFill>
              </a:rPr>
              <a:t>압각 칼새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C71421-5A4E-48AA-ABF4-AA6C2026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181475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7212B"/>
                </a:solidFill>
              </a:defRPr>
            </a:pPr>
            <a:r>
              <a:rPr sz="773" b="0">
                <a:solidFill>
                  <a:srgbClr val="17212B"/>
                </a:solidFill>
              </a:rPr>
              <a:t>10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445677-81C9-46D2-BD74-324F7062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181475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7212B"/>
                </a:solidFill>
              </a:defRPr>
            </a:pPr>
            <a:r>
              <a:rPr sz="773" b="0">
                <a:solidFill>
                  <a:srgbClr val="17212B"/>
                </a:solidFill>
              </a:rPr>
              <a:t>fly 6 / evade 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27B8AB-04EB-46A8-9B6B-F55477CC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181475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7212B"/>
                </a:solidFill>
              </a:defRPr>
            </a:pPr>
            <a:r>
              <a:rPr sz="773" b="0">
                <a:solidFill>
                  <a:srgbClr val="17212B"/>
                </a:solidFill>
              </a:rPr>
              <a:t>INBETWEEN_CREATED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3E34E4-A572-4390-9245-3B1D483F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181475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7212B"/>
                </a:solidFill>
              </a:defRPr>
            </a:pPr>
            <a:r>
              <a:rPr sz="773" b="0">
                <a:solidFill>
                  <a:srgbClr val="17212B"/>
                </a:solidFill>
              </a:rPr>
              <a:t>background-cue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5A5DBD-EB27-45F9-B716-03A04BDB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11391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6DF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8B6400-8096-465A-811A-0E43FFF5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619625"/>
            <a:ext cx="2343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1473E6"/>
                </a:solidFill>
              </a:defRPr>
            </a:pPr>
            <a:r>
              <a:rPr sz="773" b="1">
                <a:solidFill>
                  <a:srgbClr val="1473E6"/>
                </a:solidFill>
              </a:rPr>
              <a:t>편향관 박쥐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BA57DA-5DCA-42EB-8D07-8F952A43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619625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7212B"/>
                </a:solidFill>
              </a:defRPr>
            </a:pPr>
            <a:r>
              <a:rPr sz="773" b="0">
                <a:solidFill>
                  <a:srgbClr val="17212B"/>
                </a:solidFill>
              </a:rPr>
              <a:t>20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1D6367-352F-4342-933F-117EB7A2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619625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7212B"/>
                </a:solidFill>
              </a:defRPr>
            </a:pPr>
            <a:r>
              <a:rPr sz="773" b="0">
                <a:solidFill>
                  <a:srgbClr val="17212B"/>
                </a:solidFill>
              </a:rPr>
              <a:t>4/6/3/4/3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936402-AF25-48F0-8163-9F8DDE17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619625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7212B"/>
                </a:solidFill>
              </a:defRPr>
            </a:pPr>
            <a:r>
              <a:rPr sz="773" b="0">
                <a:solidFill>
                  <a:srgbClr val="17212B"/>
                </a:solidFill>
              </a:rPr>
              <a:t>INBETWEEN + UNIQUE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B6D688-7DDF-4639-914F-7B6D852C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619625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7212B"/>
                </a:solidFill>
              </a:defRPr>
            </a:pPr>
            <a:r>
              <a:rPr sz="773" b="0">
                <a:solidFill>
                  <a:srgbClr val="17212B"/>
                </a:solidFill>
              </a:rPr>
              <a:t>alias candidate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43941E-FCE7-4293-8A2A-D4CE2470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11391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6DF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2EF6BF-8304-483B-BAE5-63DD4F47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057775"/>
            <a:ext cx="2343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1473E6"/>
                </a:solidFill>
              </a:defRPr>
            </a:pPr>
            <a:r>
              <a:rPr sz="773" b="1">
                <a:solidFill>
                  <a:srgbClr val="1473E6"/>
                </a:solidFill>
              </a:rPr>
              <a:t>되감비늘 도마뱀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752826-33B5-467C-8C61-156379F5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057775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7212B"/>
                </a:solidFill>
              </a:defRPr>
            </a:pPr>
            <a:r>
              <a:rPr sz="773" b="0">
                <a:solidFill>
                  <a:srgbClr val="17212B"/>
                </a:solidFill>
              </a:rPr>
              <a:t>20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C2F0C2-1DC0-4DF9-8BC1-C756718A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5057775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7212B"/>
                </a:solidFill>
              </a:defRPr>
            </a:pPr>
            <a:r>
              <a:rPr sz="773" b="0">
                <a:solidFill>
                  <a:srgbClr val="17212B"/>
                </a:solidFill>
              </a:rPr>
              <a:t>4/6/3/4/3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2B78C57-8D6A-451D-BD7D-C3B4DB1B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057775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7212B"/>
                </a:solidFill>
              </a:defRPr>
            </a:pPr>
            <a:r>
              <a:rPr sz="773" b="0">
                <a:solidFill>
                  <a:srgbClr val="17212B"/>
                </a:solidFill>
              </a:rPr>
              <a:t>INBETWEEN + UNIQUE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85E781-8166-45CA-A003-AA9FE92E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5057775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7212B"/>
                </a:solidFill>
              </a:defRPr>
            </a:pPr>
            <a:r>
              <a:rPr sz="773" b="0">
                <a:solidFill>
                  <a:srgbClr val="17212B"/>
                </a:solidFill>
              </a:rPr>
              <a:t>alias candidate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828C9AF-BB5D-4D56-84B9-2DF52F3E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86400"/>
            <a:ext cx="11391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6DF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41DBB68-B040-4C22-BBC5-142DF765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495925"/>
            <a:ext cx="2343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1473E6"/>
                </a:solidFill>
              </a:defRPr>
            </a:pPr>
            <a:r>
              <a:rPr sz="773" b="1">
                <a:solidFill>
                  <a:srgbClr val="1473E6"/>
                </a:solidFill>
              </a:rPr>
              <a:t>광물실거미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61BFB64-5273-4F59-8A8E-34CB4716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495925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7212B"/>
                </a:solidFill>
              </a:defRPr>
            </a:pPr>
            <a:r>
              <a:rPr sz="773" b="0">
                <a:solidFill>
                  <a:srgbClr val="17212B"/>
                </a:solidFill>
              </a:rPr>
              <a:t>26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84AB284-CD67-4A36-B162-C5A74CAB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5495925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7212B"/>
                </a:solidFill>
              </a:defRPr>
            </a:pPr>
            <a:r>
              <a:rPr sz="773" b="0">
                <a:solidFill>
                  <a:srgbClr val="17212B"/>
                </a:solidFill>
              </a:rPr>
              <a:t>4/6/3/3/4/3/3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115C7B0-0EB0-4AFB-A31F-0A40D483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495925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7212B"/>
                </a:solidFill>
              </a:defRPr>
            </a:pPr>
            <a:r>
              <a:rPr sz="773" b="0">
                <a:solidFill>
                  <a:srgbClr val="17212B"/>
                </a:solidFill>
              </a:rPr>
              <a:t>INBETWEEN_CREATED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CDC78F-6E3D-4B68-99DE-9FBEBDD4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5495925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7212B"/>
                </a:solidFill>
              </a:defRPr>
            </a:pPr>
            <a:r>
              <a:rPr sz="773" b="0">
                <a:solidFill>
                  <a:srgbClr val="17212B"/>
                </a:solidFill>
              </a:rPr>
              <a:t>7-state bridge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8173957-CC54-41C5-8877-3650B325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24550"/>
            <a:ext cx="11391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6DF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EBC33EF-72D0-4EEC-A7C7-04762A8F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34075"/>
            <a:ext cx="2343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1473E6"/>
                </a:solidFill>
              </a:defRPr>
            </a:pPr>
            <a:r>
              <a:rPr sz="773" b="1">
                <a:solidFill>
                  <a:srgbClr val="1473E6"/>
                </a:solidFill>
              </a:rPr>
              <a:t>반향각 산양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08D940E-6EEC-4A23-B744-41DCF7CE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934075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7212B"/>
                </a:solidFill>
              </a:defRPr>
            </a:pPr>
            <a:r>
              <a:rPr sz="773" b="0">
                <a:solidFill>
                  <a:srgbClr val="17212B"/>
                </a:solidFill>
              </a:rPr>
              <a:t>23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4475269-EA5A-4F0B-99A3-E9F84313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5934075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7212B"/>
                </a:solidFill>
              </a:defRPr>
            </a:pPr>
            <a:r>
              <a:rPr sz="773" b="0">
                <a:solidFill>
                  <a:srgbClr val="17212B"/>
                </a:solidFill>
              </a:rPr>
              <a:t>4/3/3/5/4/4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D46517B-8AE6-4EF1-B61F-8DB2E0E7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934075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7212B"/>
                </a:solidFill>
              </a:defRPr>
            </a:pPr>
            <a:r>
              <a:rPr sz="773" b="0">
                <a:solidFill>
                  <a:srgbClr val="17212B"/>
                </a:solidFill>
              </a:rPr>
              <a:t>INBETWEEN_CREATED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A485D96-95EF-46C8-92F7-41B9BC05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5934075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7212B"/>
                </a:solidFill>
              </a:defRPr>
            </a:pPr>
            <a:r>
              <a:rPr sz="773" b="0">
                <a:solidFill>
                  <a:srgbClr val="17212B"/>
                </a:solidFill>
              </a:rPr>
              <a:t>boss motion</a:t>
            </a:r>
          </a:p>
        </p:txBody>
      </p:sp>
    </p:spTree>
    <p:extLst>
      <p:ext uri="{BB962C8B-B14F-4D97-AF65-F5344CB8AC3E}">
        <p14:creationId xmlns:p14="http://schemas.microsoft.com/office/powerpoint/2010/main" val="18991615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5D9C42-44AA-4291-83D8-BF33C6DE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3EACD-5F8A-43EC-B546-CED2E1ED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12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2100" b="1">
                <a:solidFill>
                  <a:srgbClr val="17212B"/>
                </a:solidFill>
                <a:latin typeface="Noto Sans KR Thin"/>
                <a:ea typeface="Noto Sans KR Thin"/>
                <a:cs typeface="Noto Sans KR Thin"/>
              </a:rPr>
              <a:t>압각 칼새는 날개 위치와 회피 궤적이 실제로 달라진다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384A5-7E20-493F-B895-35B21F82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fly 6 · evade 4 · background-cue 역할 유지 · attack/hit 신설 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3C5AE-751C-4620-BA38-0656F498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C3BF7-5DE5-4D7D-93CE-1142F32A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05 · PRESSURE SWIFT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F59CB-8697-42EA-8430-E4BFCE72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08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62d718ccbe4bc7"/>
          <a:stretch xmlns:a="http://schemas.openxmlformats.org/drawingml/2006/main"/>
        </p:blipFill>
        <p:spPr>
          <a:xfrm xmlns:a="http://schemas.openxmlformats.org/drawingml/2006/main">
            <a:off x="408497" y="1619250"/>
            <a:ext cx="11375007" cy="2609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529783-C276-4A0A-B708-54FF617D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3638550" cy="990600"/>
          </a:xfrm>
          <a:prstGeom xmlns:a="http://schemas.openxmlformats.org/drawingml/2006/main" prst="roundRect">
            <a:avLst>
              <a:gd name="adj" fmla="val 7692"/>
            </a:avLst>
          </a:prstGeom>
          <a:noFill xmlns:a="http://schemas.openxmlformats.org/drawingml/2006/main"/>
          <a:ln xmlns:a="http://schemas.openxmlformats.org/drawingml/2006/main" w="12383">
            <a:solidFill>
              <a:srgbClr val="18AFC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32B125-7ACA-4616-A331-F19C6682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AFC1"/>
                </a:solidFill>
              </a:defRPr>
            </a:pPr>
            <a:r>
              <a:rPr sz="1050" b="1">
                <a:solidFill>
                  <a:srgbClr val="18AFC1"/>
                </a:solidFill>
              </a:rPr>
              <a:t>FLY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3F43D5-86B3-42D7-94CC-F13811B5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91050"/>
            <a:ext cx="2362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12B"/>
                </a:solidFill>
              </a:defRPr>
            </a:pPr>
            <a:r>
              <a:rPr sz="938" b="1">
                <a:solidFill>
                  <a:srgbClr val="17212B"/>
                </a:solidFill>
              </a:rPr>
              <a:t>상단·중간·하단 날개와 몸 피치 변화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334D74-22C2-4864-AFEB-7C02923F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495800"/>
            <a:ext cx="3638550" cy="990600"/>
          </a:xfrm>
          <a:prstGeom xmlns:a="http://schemas.openxmlformats.org/drawingml/2006/main" prst="roundRect">
            <a:avLst>
              <a:gd name="adj" fmla="val 7692"/>
            </a:avLst>
          </a:prstGeom>
          <a:noFill xmlns:a="http://schemas.openxmlformats.org/drawingml/2006/main"/>
          <a:ln xmlns:a="http://schemas.openxmlformats.org/drawingml/2006/main" w="12383">
            <a:solidFill>
              <a:srgbClr val="1473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4B0718-061E-40DF-91AB-F67AEF58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101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73E6"/>
                </a:solidFill>
              </a:defRPr>
            </a:pPr>
            <a:r>
              <a:rPr sz="1050" b="1">
                <a:solidFill>
                  <a:srgbClr val="1473E6"/>
                </a:solidFill>
              </a:rPr>
              <a:t>EVADE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955FA9-1629-4704-929D-807C25F5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591050"/>
            <a:ext cx="2362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12B"/>
                </a:solidFill>
              </a:defRPr>
            </a:pPr>
            <a:r>
              <a:rPr sz="938" b="1">
                <a:solidFill>
                  <a:srgbClr val="17212B"/>
                </a:solidFill>
              </a:rPr>
              <a:t>날개 접힘·방향 전환·복귀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3AAFB6-1EB4-41C7-8115-367F29CF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95800"/>
            <a:ext cx="3638550" cy="990600"/>
          </a:xfrm>
          <a:prstGeom xmlns:a="http://schemas.openxmlformats.org/drawingml/2006/main" prst="roundRect">
            <a:avLst>
              <a:gd name="adj" fmla="val 7692"/>
            </a:avLst>
          </a:prstGeom>
          <a:noFill xmlns:a="http://schemas.openxmlformats.org/drawingml/2006/main"/>
          <a:ln xmlns:a="http://schemas.openxmlformats.org/drawingml/2006/main" w="12383">
            <a:solidFill>
              <a:srgbClr val="2B9B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0BF3C-47B0-45C8-BB8B-286922C0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101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9B6F"/>
                </a:solidFill>
              </a:defRPr>
            </a:pPr>
            <a:r>
              <a:rPr sz="1050" b="1">
                <a:solidFill>
                  <a:srgbClr val="2B9B6F"/>
                </a:solidFill>
              </a:rPr>
              <a:t>1×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38EE27-A40D-4776-9662-6F027279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91050"/>
            <a:ext cx="2362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12B"/>
                </a:solidFill>
              </a:defRPr>
            </a:pPr>
            <a:r>
              <a:rPr sz="938" b="1">
                <a:solidFill>
                  <a:srgbClr val="17212B"/>
                </a:solidFill>
              </a:rPr>
              <a:t>날개 방향 + 머리 방향 즉시 판독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2C5FDD-FE08-47DD-8238-DD561986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91900" cy="552450"/>
          </a:xfrm>
          <a:prstGeom xmlns:a="http://schemas.openxmlformats.org/drawingml/2006/main" prst="roundRect">
            <a:avLst>
              <a:gd name="adj" fmla="val 1379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2B9B6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1566DE-6C4C-4D3D-9F61-FB94182B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531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2B9B6F"/>
                </a:solidFill>
              </a:defRPr>
            </a:pPr>
            <a:r>
              <a:rPr sz="1013" b="1">
                <a:solidFill>
                  <a:srgbClr val="2B9B6F"/>
                </a:solidFill>
              </a:rPr>
              <a:t>판정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57AC2C-8A11-4240-8E9D-AFC23EBF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74357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12B"/>
                </a:solidFill>
              </a:defRPr>
            </a:pPr>
            <a:r>
              <a:rPr sz="1013" b="1">
                <a:solidFill>
                  <a:srgbClr val="17212B"/>
                </a:solidFill>
              </a:rPr>
              <a:t>INBETWEEN_CREATED · 같은 몸을 y축으로만 옮긴 인접 프레임 0</a:t>
            </a:r>
          </a:p>
        </p:txBody>
      </p:sp>
    </p:spTree>
    <p:extLst>
      <p:ext uri="{BB962C8B-B14F-4D97-AF65-F5344CB8AC3E}">
        <p14:creationId xmlns:p14="http://schemas.microsoft.com/office/powerpoint/2010/main" val="4973344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5D9C42-44AA-4291-83D8-BF33C6DE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3EACD-5F8A-43EC-B546-CED2E1ED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12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2100" b="1">
                <a:solidFill>
                  <a:srgbClr val="17212B"/>
                </a:solidFill>
                <a:latin typeface="Noto Sans KR Thin"/>
                <a:ea typeface="Noto Sans KR Thin"/>
                <a:cs typeface="Noto Sans KR Thin"/>
              </a:rPr>
              <a:t>편향관 박쥐는 날갯짓→조준→반동→hover 복귀가 구분된다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384A5-7E20-493F-B895-35B21F82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idle 4 · move 6 · prep 3 · attack 4 · hit/recover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3C5AE-751C-4620-BA38-0656F498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C3BF7-5DE5-4D7D-93CE-1142F32A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06 · DEFLECT BAT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F59CB-8697-42EA-8430-E4BFCE72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09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18da86a0cf470c"/>
          <a:stretch xmlns:a="http://schemas.openxmlformats.org/drawingml/2006/main"/>
        </p:blipFill>
        <p:spPr>
          <a:xfrm xmlns:a="http://schemas.openxmlformats.org/drawingml/2006/main">
            <a:off x="2111643" y="1562100"/>
            <a:ext cx="7968714" cy="3752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484962-A670-4AF0-B38D-8BFA48F8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1391900" cy="552450"/>
          </a:xfrm>
          <a:prstGeom xmlns:a="http://schemas.openxmlformats.org/drawingml/2006/main" prst="roundRect">
            <a:avLst>
              <a:gd name="adj" fmla="val 1379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E98A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A963C-41C3-4A0A-B1DA-5CF6C328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E98A2B"/>
                </a:solidFill>
              </a:defRPr>
            </a:pPr>
            <a:r>
              <a:rPr sz="1013" b="1">
                <a:solidFill>
                  <a:srgbClr val="E98A2B"/>
                </a:solidFill>
              </a:rPr>
              <a:t>alias 후보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C82802-8326-44EA-89A9-9A3B070C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62927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12B"/>
                </a:solidFill>
              </a:defRPr>
            </a:pPr>
            <a:r>
              <a:rPr sz="1013" b="1">
                <a:solidFill>
                  <a:srgbClr val="17212B"/>
                </a:solidFill>
              </a:rPr>
              <a:t>prep 3 + attack 4 + hit/recover 3 · 기존 alias는 manifest에서 해제하지 않음</a:t>
            </a:r>
          </a:p>
        </p:txBody>
      </p:sp>
    </p:spTree>
    <p:extLst>
      <p:ext uri="{BB962C8B-B14F-4D97-AF65-F5344CB8AC3E}">
        <p14:creationId xmlns:p14="http://schemas.microsoft.com/office/powerpoint/2010/main" val="4973344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5D9C42-44AA-4291-83D8-BF33C6DE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3EACD-5F8A-43EC-B546-CED2E1ED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12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2100" b="1">
                <a:solidFill>
                  <a:srgbClr val="17212B"/>
                </a:solidFill>
                <a:latin typeface="Noto Sans KR Thin"/>
                <a:ea typeface="Noto Sans KR Thin"/>
                <a:cs typeface="Noto Sans KR Thin"/>
              </a:rPr>
              <a:t>되감비늘 도마뱀은 몸을 낮추고 뒷다리에서 머리·앞다리로 힘을 보낸다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384A5-7E20-493F-B895-35B21F82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idle 4 · move 6 · crouch/prep 3 · lunge/attack 4 · hit/recover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3C5AE-751C-4620-BA38-0656F498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C3BF7-5DE5-4D7D-93CE-1142F32A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07 · REWIND LIZARD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F59CB-8697-42EA-8430-E4BFCE72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10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a7c9a9b9a642fa"/>
          <a:stretch xmlns:a="http://schemas.openxmlformats.org/drawingml/2006/main"/>
        </p:blipFill>
        <p:spPr>
          <a:xfrm xmlns:a="http://schemas.openxmlformats.org/drawingml/2006/main">
            <a:off x="1162106" y="1562100"/>
            <a:ext cx="9867788" cy="3752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E73735-AA8F-47F2-9203-C887082F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1391900" cy="552450"/>
          </a:xfrm>
          <a:prstGeom xmlns:a="http://schemas.openxmlformats.org/drawingml/2006/main" prst="roundRect">
            <a:avLst>
              <a:gd name="adj" fmla="val 1379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2B9B6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38438A-F7B6-4C1B-9C5B-D86826B4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2B9B6F"/>
                </a:solidFill>
              </a:defRPr>
            </a:pPr>
            <a:r>
              <a:rPr sz="1013" b="1">
                <a:solidFill>
                  <a:srgbClr val="2B9B6F"/>
                </a:solidFill>
              </a:rPr>
              <a:t>loop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1E0F2B-7461-43B8-B8F3-53F139F3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62927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12B"/>
                </a:solidFill>
              </a:defRPr>
            </a:pPr>
            <a:r>
              <a:rPr sz="1013" b="1">
                <a:solidFill>
                  <a:srgbClr val="17212B"/>
                </a:solidFill>
              </a:rPr>
              <a:t>idle은 중복 PNG 없이 staging 재생 순서 1→2→3→4→3→2 · Ground Point delta 0px</a:t>
            </a:r>
          </a:p>
        </p:txBody>
      </p:sp>
    </p:spTree>
    <p:extLst>
      <p:ext uri="{BB962C8B-B14F-4D97-AF65-F5344CB8AC3E}">
        <p14:creationId xmlns:p14="http://schemas.microsoft.com/office/powerpoint/2010/main" val="4973344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5D9C42-44AA-4291-83D8-BF33C6DE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3EACD-5F8A-43EC-B546-CED2E1ED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12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2100" b="1">
                <a:solidFill>
                  <a:srgbClr val="17212B"/>
                </a:solidFill>
                <a:latin typeface="Noto Sans KR Thin"/>
                <a:ea typeface="Noto Sans KR Thin"/>
                <a:cs typeface="Noto Sans KR Thin"/>
              </a:rPr>
              <a:t>광물실거미는 corrected 7상태 사이를 26개 프레임으로 연결했다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384A5-7E20-493F-B895-35B21F82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다리 접지 순서·복부 상승·방적기관 정렬·실 반동·8다리 복귀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3C5AE-751C-4620-BA38-0656F498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C3BF7-5DE5-4D7D-93CE-1142F32A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08 · MINERAL SPIDER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F59CB-8697-42EA-8430-E4BFCE72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11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b5cade8f804158"/>
          <a:stretch xmlns:a="http://schemas.openxmlformats.org/drawingml/2006/main"/>
        </p:blipFill>
        <p:spPr>
          <a:xfrm xmlns:a="http://schemas.openxmlformats.org/drawingml/2006/main">
            <a:off x="3311690" y="1543050"/>
            <a:ext cx="5568620" cy="39433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FF7897-21C7-4786-9A62-1459342B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1391900" cy="552450"/>
          </a:xfrm>
          <a:prstGeom xmlns:a="http://schemas.openxmlformats.org/drawingml/2006/main" prst="roundRect">
            <a:avLst>
              <a:gd name="adj" fmla="val 1379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2B9B6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C2C5D9-0D00-4267-A8C4-0B49D39C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40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2B9B6F"/>
                </a:solidFill>
              </a:defRPr>
            </a:pPr>
            <a:r>
              <a:rPr sz="1013" b="1">
                <a:solidFill>
                  <a:srgbClr val="2B9B6F"/>
                </a:solidFill>
              </a:rPr>
              <a:t>연결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C6BD2E-5DF2-4586-95D1-9D2E4735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72452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12B"/>
                </a:solidFill>
              </a:defRPr>
            </a:pPr>
            <a:r>
              <a:rPr sz="1013" b="1">
                <a:solidFill>
                  <a:srgbClr val="17212B"/>
                </a:solidFill>
              </a:rPr>
              <a:t>idle→alert 3 · alert→deploy 3 · deploy→attack 4 · attack→recover 3 · stunned/retreat 3</a:t>
            </a:r>
          </a:p>
        </p:txBody>
      </p:sp>
    </p:spTree>
    <p:extLst>
      <p:ext uri="{BB962C8B-B14F-4D97-AF65-F5344CB8AC3E}">
        <p14:creationId xmlns:p14="http://schemas.microsoft.com/office/powerpoint/2010/main" val="4973344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5D9C42-44AA-4291-83D8-BF33C6DE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3EACD-5F8A-43EC-B546-CED2E1ED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12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2100" b="1">
                <a:solidFill>
                  <a:srgbClr val="17212B"/>
                </a:solidFill>
                <a:latin typeface="Noto Sans KR Thin"/>
                <a:ea typeface="Noto Sans KR Thin"/>
                <a:cs typeface="Noto Sans KR Thin"/>
              </a:rPr>
              <a:t>반향각 산양은 굽·어깨·목·뿔의 무게 이동으로 charge를 만든다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384A5-7E20-493F-B895-35B21F82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idle 4 · warning 3 · combat prep 3 · charge 5 · hit/recover 4 · retreat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3C5AE-751C-4620-BA38-0656F498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C3BF7-5DE5-4D7D-93CE-1142F32A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09 · RESONANCE GORAL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F59CB-8697-42EA-8430-E4BFCE72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12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c6ffa74ca9489f"/>
          <a:stretch xmlns:a="http://schemas.openxmlformats.org/drawingml/2006/main"/>
        </p:blipFill>
        <p:spPr>
          <a:xfrm xmlns:a="http://schemas.openxmlformats.org/drawingml/2006/main">
            <a:off x="2245418" y="1504950"/>
            <a:ext cx="7701164" cy="4095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CDC816-42FE-4070-9C39-EDF97127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91900" cy="552450"/>
          </a:xfrm>
          <a:prstGeom xmlns:a="http://schemas.openxmlformats.org/drawingml/2006/main" prst="roundRect">
            <a:avLst>
              <a:gd name="adj" fmla="val 1379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2B9B6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02083A-FE9C-40D7-BBCD-AE4F9B78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531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2B9B6F"/>
                </a:solidFill>
              </a:defRPr>
            </a:pPr>
            <a:r>
              <a:rPr sz="1013" b="1">
                <a:solidFill>
                  <a:srgbClr val="2B9B6F"/>
                </a:solidFill>
              </a:rPr>
              <a:t>행동 문법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35FE81-FB45-46D4-8566-51FD1349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74357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12B"/>
                </a:solidFill>
              </a:defRPr>
            </a:pPr>
            <a:r>
              <a:rPr sz="1013" b="1">
                <a:solidFill>
                  <a:srgbClr val="17212B"/>
                </a:solidFill>
              </a:rPr>
              <a:t>앞굽→어깨 하강→추진→전완 충격 흡수→비살상 후퇴 · 기존 phase·공격 유지</a:t>
            </a:r>
          </a:p>
        </p:txBody>
      </p:sp>
    </p:spTree>
    <p:extLst>
      <p:ext uri="{BB962C8B-B14F-4D97-AF65-F5344CB8AC3E}">
        <p14:creationId xmlns:p14="http://schemas.microsoft.com/office/powerpoint/2010/main" val="4973344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1F504B-9DF7-4100-8BB1-B639B92B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84ECE-E3D6-4AA3-9279-115CE0ED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12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2100" b="1">
                <a:solidFill>
                  <a:srgbClr val="17212B"/>
                </a:solidFill>
                <a:latin typeface="Noto Sans KR Thin"/>
                <a:ea typeface="Noto Sans KR Thin"/>
                <a:cs typeface="Noto Sans KR Thin"/>
              </a:rPr>
              <a:t>작은 생물은 native 1×에서도 행동 방향이 읽힌다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EFABB-01E9-4C61-B22E-5A3B785E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왼쪽은 runtime canvas 그대로, 오른쪽은 별도 생성한 nearest 정수배 검토 이미지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C2767-AE07-476D-8C71-D11D8208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F6772-E47D-42AC-84AD-74845362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10 · NATIVE 1× READABILITY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12FD83-4F9E-4655-966C-F18BEB5D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B71A8-57EE-474D-8F5E-7CB19408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DE352-15B9-446F-849C-48E342B4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3E6"/>
          </a:solidFill>
          <a:ln xmlns:a="http://schemas.openxmlformats.org/drawingml/2006/main" w="0">
            <a:solidFill>
              <a:srgbClr val="1473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BD7944-598E-4BBA-A591-DA272DF4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473E6"/>
                </a:solidFill>
              </a:defRPr>
            </a:pPr>
            <a:r>
              <a:rPr sz="1013" b="1">
                <a:solidFill>
                  <a:srgbClr val="1473E6"/>
                </a:solidFill>
              </a:rPr>
              <a:t>PPT 확대가 아니라 실제 PNG canvas와 4× nearest review asset을 동시에 표시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FD3611-DC05-43AB-B38F-5DBF93C2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AFC1"/>
                </a:solidFill>
              </a:defRPr>
            </a:pPr>
            <a:r>
              <a:rPr sz="1050" b="1">
                <a:solidFill>
                  <a:srgbClr val="18AFC1"/>
                </a:solidFill>
              </a:rPr>
              <a:t>압각 칼새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D3DED1-1D31-4682-B856-A36AA0B5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38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5D6A75"/>
                </a:solidFill>
              </a:defRPr>
            </a:pPr>
            <a:r>
              <a:rPr sz="863" b="1">
                <a:solidFill>
                  <a:srgbClr val="5D6A75"/>
                </a:solidFill>
              </a:rPr>
              <a:t>1×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4e4aa75c3c4d81"/>
          <a:stretch xmlns:a="http://schemas.openxmlformats.org/drawingml/2006/main"/>
        </p:blipFill>
        <p:spPr>
          <a:xfrm xmlns:a="http://schemas.openxmlformats.org/drawingml/2006/main">
            <a:off x="2895600" y="2076450"/>
            <a:ext cx="342900" cy="2286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B6C521-8287-446F-9708-47A8B21D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383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5D6A75"/>
                </a:solidFill>
              </a:defRPr>
            </a:pPr>
            <a:r>
              <a:rPr sz="863" b="1">
                <a:solidFill>
                  <a:srgbClr val="5D6A75"/>
                </a:solidFill>
              </a:rPr>
              <a:t>4× NN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e73d6151154ee7"/>
          <a:stretch xmlns:a="http://schemas.openxmlformats.org/drawingml/2006/main"/>
        </p:blipFill>
        <p:spPr>
          <a:xfrm xmlns:a="http://schemas.openxmlformats.org/drawingml/2006/main">
            <a:off x="5029200" y="1885950"/>
            <a:ext cx="1371600" cy="9144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B0B472-A1BC-4392-9C4E-04DB9D43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383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8AFC1"/>
                </a:solidFill>
              </a:defRPr>
            </a:pPr>
            <a:r>
              <a:rPr sz="1013" b="1">
                <a:solidFill>
                  <a:srgbClr val="18AFC1"/>
                </a:solidFill>
              </a:rPr>
              <a:t>날개 + 머리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92BFFD-6E84-4869-807F-62C140A6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057400"/>
            <a:ext cx="8382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F5EE"/>
          </a:solidFill>
          <a:ln xmlns:a="http://schemas.openxmlformats.org/drawingml/2006/main" w="9525">
            <a:solidFill>
              <a:srgbClr val="2B9B6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9074F0-6434-414E-A313-9E086B59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2057400"/>
            <a:ext cx="74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B9B6F"/>
                </a:solidFill>
              </a:defRPr>
            </a:pPr>
            <a:r>
              <a:rPr sz="863" b="1">
                <a:solidFill>
                  <a:srgbClr val="2B9B6F"/>
                </a:solidFill>
              </a:rPr>
              <a:t>PASS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E32A3B-7347-48B8-AA3A-05A5C925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73E6"/>
                </a:solidFill>
              </a:defRPr>
            </a:pPr>
            <a:r>
              <a:rPr sz="1050" b="1">
                <a:solidFill>
                  <a:srgbClr val="1473E6"/>
                </a:solidFill>
              </a:rPr>
              <a:t>편향관 박쥐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38C9A0-9BB1-4C3C-ADB4-72F9EC8B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432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5D6A75"/>
                </a:solidFill>
              </a:defRPr>
            </a:pPr>
            <a:r>
              <a:rPr sz="863" b="1">
                <a:solidFill>
                  <a:srgbClr val="5D6A75"/>
                </a:solidFill>
              </a:rPr>
              <a:t>1×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a9f3c7ba934701"/>
          <a:stretch xmlns:a="http://schemas.openxmlformats.org/drawingml/2006/main"/>
        </p:blipFill>
        <p:spPr>
          <a:xfrm xmlns:a="http://schemas.openxmlformats.org/drawingml/2006/main">
            <a:off x="2895600" y="3181350"/>
            <a:ext cx="495300" cy="3429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F7FEB1-6C34-4F20-9619-63AF3E41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5D6A75"/>
                </a:solidFill>
              </a:defRPr>
            </a:pPr>
            <a:r>
              <a:rPr sz="863" b="1">
                <a:solidFill>
                  <a:srgbClr val="5D6A75"/>
                </a:solidFill>
              </a:rPr>
              <a:t>4× NN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5d2eca0bb44919"/>
          <a:stretch xmlns:a="http://schemas.openxmlformats.org/drawingml/2006/main"/>
        </p:blipFill>
        <p:spPr>
          <a:xfrm xmlns:a="http://schemas.openxmlformats.org/drawingml/2006/main">
            <a:off x="5029200" y="2990850"/>
            <a:ext cx="1981200" cy="13716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2962C7-5662-4C81-9E92-435B99DF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43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473E6"/>
                </a:solidFill>
              </a:defRPr>
            </a:pPr>
            <a:r>
              <a:rPr sz="1013" b="1">
                <a:solidFill>
                  <a:srgbClr val="1473E6"/>
                </a:solidFill>
              </a:rPr>
              <a:t>날개 + 조준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D8B754-5228-4080-935E-E5FAE5F2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162300"/>
            <a:ext cx="8382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F5EE"/>
          </a:solidFill>
          <a:ln xmlns:a="http://schemas.openxmlformats.org/drawingml/2006/main" w="9525">
            <a:solidFill>
              <a:srgbClr val="2B9B6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FC469B-E75E-4E46-9F5A-557C8BBF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3162300"/>
            <a:ext cx="74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B9B6F"/>
                </a:solidFill>
              </a:defRPr>
            </a:pPr>
            <a:r>
              <a:rPr sz="863" b="1">
                <a:solidFill>
                  <a:srgbClr val="2B9B6F"/>
                </a:solidFill>
              </a:rPr>
              <a:t>PASS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D03D26-247A-4D3C-87CD-03D3BA4E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481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98A2B"/>
                </a:solidFill>
              </a:defRPr>
            </a:pPr>
            <a:r>
              <a:rPr sz="1050" b="1">
                <a:solidFill>
                  <a:srgbClr val="E98A2B"/>
                </a:solidFill>
              </a:rPr>
              <a:t>되감비늘 도마뱀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67A6D7-0B48-4B35-87CD-6191AB43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481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5D6A75"/>
                </a:solidFill>
              </a:defRPr>
            </a:pPr>
            <a:r>
              <a:rPr sz="863" b="1">
                <a:solidFill>
                  <a:srgbClr val="5D6A75"/>
                </a:solidFill>
              </a:rPr>
              <a:t>1×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6cbd728dac4f19"/>
          <a:stretch xmlns:a="http://schemas.openxmlformats.org/drawingml/2006/main"/>
        </p:blipFill>
        <p:spPr>
          <a:xfrm xmlns:a="http://schemas.openxmlformats.org/drawingml/2006/main">
            <a:off x="2895600" y="4286250"/>
            <a:ext cx="685800" cy="38100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FD66CB-6F41-4E1D-8269-35A81516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481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5D6A75"/>
                </a:solidFill>
              </a:defRPr>
            </a:pPr>
            <a:r>
              <a:rPr sz="863" b="1">
                <a:solidFill>
                  <a:srgbClr val="5D6A75"/>
                </a:solidFill>
              </a:rPr>
              <a:t>4× NN</a:t>
            </a:r>
          </a:p>
        </p:txBody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6457f41a6d4ecd"/>
          <a:stretch xmlns:a="http://schemas.openxmlformats.org/drawingml/2006/main"/>
        </p:blipFill>
        <p:spPr>
          <a:xfrm xmlns:a="http://schemas.openxmlformats.org/drawingml/2006/main">
            <a:off x="5029200" y="4095750"/>
            <a:ext cx="2743200" cy="152400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73A322-BFDA-417A-A6BE-AD27755D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48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E98A2B"/>
                </a:solidFill>
              </a:defRPr>
            </a:pPr>
            <a:r>
              <a:rPr sz="1013" b="1">
                <a:solidFill>
                  <a:srgbClr val="E98A2B"/>
                </a:solidFill>
              </a:rPr>
              <a:t>낮은 prep + 방향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C87C35-A495-4893-99C3-96C54188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267200"/>
            <a:ext cx="8382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F5EE"/>
          </a:solidFill>
          <a:ln xmlns:a="http://schemas.openxmlformats.org/drawingml/2006/main" w="9525">
            <a:solidFill>
              <a:srgbClr val="2B9B6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94B558-D109-4CDE-83C5-5EB78C74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4267200"/>
            <a:ext cx="74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B9B6F"/>
                </a:solidFill>
              </a:defRPr>
            </a:pPr>
            <a:r>
              <a:rPr sz="863" b="1">
                <a:solidFill>
                  <a:srgbClr val="2B9B6F"/>
                </a:solidFill>
              </a:rPr>
              <a:t>PASS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2F16BA-8C29-4547-8C1D-9C7EA79E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11391900" cy="552450"/>
          </a:xfrm>
          <a:prstGeom xmlns:a="http://schemas.openxmlformats.org/drawingml/2006/main" prst="roundRect">
            <a:avLst>
              <a:gd name="adj" fmla="val 1379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2B9B6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12E79D-2D68-41A6-858D-FCE47277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2B9B6F"/>
                </a:solidFill>
              </a:defRPr>
            </a:pPr>
            <a:r>
              <a:rPr sz="1013" b="1">
                <a:solidFill>
                  <a:srgbClr val="2B9B6F"/>
                </a:solidFill>
              </a:rPr>
              <a:t>검수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B690B6-2419-4EE0-BFC3-30B0CFB4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64832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12B"/>
                </a:solidFill>
              </a:defRPr>
            </a:pPr>
            <a:r>
              <a:rPr sz="1013" b="1">
                <a:solidFill>
                  <a:srgbClr val="17212B"/>
                </a:solidFill>
              </a:rPr>
              <a:t>4×에서만 읽히는 판정 0 · native 1×에서 두 가지 이상의 cue 즉시 구분</a:t>
            </a:r>
          </a:p>
        </p:txBody>
      </p:sp>
    </p:spTree>
    <p:extLst>
      <p:ext uri="{BB962C8B-B14F-4D97-AF65-F5344CB8AC3E}">
        <p14:creationId xmlns:p14="http://schemas.microsoft.com/office/powerpoint/2010/main" val="18991615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5D9C42-44AA-4291-83D8-BF33C6DE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3EACD-5F8A-43EC-B546-CED2E1ED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12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2100" b="1">
                <a:solidFill>
                  <a:srgbClr val="17212B"/>
                </a:solidFill>
                <a:latin typeface="Noto Sans KR Thin"/>
                <a:ea typeface="Noto Sans KR Thin"/>
                <a:cs typeface="Noto Sans KR Thin"/>
              </a:rPr>
              <a:t>정적 contact sheet가 아니라 실제 반복 재생 MP4를 제출한다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384A5-7E20-493F-B895-35B21F82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각 대상별 native 1× · nearest 4× · animated review 세 버전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3C5AE-751C-4620-BA38-0656F498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C3BF7-5DE5-4D7D-93CE-1142F32A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11 · ANIMATED PREVIEW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F59CB-8697-42EA-8430-E4BFCE72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E4B016-2013-4431-905D-DEAF6B4F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3638550" cy="1790700"/>
          </a:xfrm>
          <a:prstGeom xmlns:a="http://schemas.openxmlformats.org/drawingml/2006/main" prst="roundRect">
            <a:avLst>
              <a:gd name="adj" fmla="val 4255"/>
            </a:avLst>
          </a:prstGeom>
          <a:noFill xmlns:a="http://schemas.openxmlformats.org/drawingml/2006/main"/>
          <a:ln xmlns:a="http://schemas.openxmlformats.org/drawingml/2006/main" w="12383">
            <a:solidFill>
              <a:srgbClr val="18AF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7135AC-7BCA-4A14-9461-9232C02E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3409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8AFC1"/>
                </a:solidFill>
              </a:defRPr>
            </a:pPr>
            <a:r>
              <a:rPr sz="938" b="1">
                <a:solidFill>
                  <a:srgbClr val="18AFC1"/>
                </a:solidFill>
              </a:rPr>
              <a:t>압각 칼새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41bbf7e9fb4fdc"/>
          <a:stretch xmlns:a="http://schemas.openxmlformats.org/drawingml/2006/main"/>
        </p:blipFill>
        <p:spPr>
          <a:xfrm xmlns:a="http://schemas.openxmlformats.org/drawingml/2006/main">
            <a:off x="476250" y="2057524"/>
            <a:ext cx="3486150" cy="799853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E0E0E1-4517-44DD-8891-A09759C1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3409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5D6A75"/>
                </a:solidFill>
              </a:defRPr>
            </a:pPr>
            <a:r>
              <a:rPr sz="720" b="0">
                <a:solidFill>
                  <a:srgbClr val="5D6A75"/>
                </a:solidFill>
              </a:rPr>
              <a:t>pressure_swift_motion_pilot_preview.mp4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4A27CB-AED3-4A8A-B7F4-591B891C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581150"/>
            <a:ext cx="3638550" cy="1790700"/>
          </a:xfrm>
          <a:prstGeom xmlns:a="http://schemas.openxmlformats.org/drawingml/2006/main" prst="roundRect">
            <a:avLst>
              <a:gd name="adj" fmla="val 4255"/>
            </a:avLst>
          </a:prstGeom>
          <a:noFill xmlns:a="http://schemas.openxmlformats.org/drawingml/2006/main"/>
          <a:ln xmlns:a="http://schemas.openxmlformats.org/drawingml/2006/main" w="12383">
            <a:solidFill>
              <a:srgbClr val="1473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173EB2-9DC7-4A8D-841C-F7C4E5C0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38300"/>
            <a:ext cx="3409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473E6"/>
                </a:solidFill>
              </a:defRPr>
            </a:pPr>
            <a:r>
              <a:rPr sz="938" b="1">
                <a:solidFill>
                  <a:srgbClr val="1473E6"/>
                </a:solidFill>
              </a:rPr>
              <a:t>편향관 박쥐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0ce75b70954c49"/>
          <a:stretch xmlns:a="http://schemas.openxmlformats.org/drawingml/2006/main"/>
        </p:blipFill>
        <p:spPr>
          <a:xfrm xmlns:a="http://schemas.openxmlformats.org/drawingml/2006/main">
            <a:off x="4915766" y="1924050"/>
            <a:ext cx="2265218" cy="10668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A100B2-F4B4-424B-8280-A8049AE4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48000"/>
            <a:ext cx="3409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5D6A75"/>
                </a:solidFill>
              </a:defRPr>
            </a:pPr>
            <a:r>
              <a:rPr sz="720" b="0">
                <a:solidFill>
                  <a:srgbClr val="5D6A75"/>
                </a:solidFill>
              </a:rPr>
              <a:t>deflect_bat_motion_pilot_preview.mp4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6D1DF2-B34B-4D62-935C-FFEB527B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81150"/>
            <a:ext cx="3638550" cy="1790700"/>
          </a:xfrm>
          <a:prstGeom xmlns:a="http://schemas.openxmlformats.org/drawingml/2006/main" prst="roundRect">
            <a:avLst>
              <a:gd name="adj" fmla="val 4255"/>
            </a:avLst>
          </a:prstGeom>
          <a:noFill xmlns:a="http://schemas.openxmlformats.org/drawingml/2006/main"/>
          <a:ln xmlns:a="http://schemas.openxmlformats.org/drawingml/2006/main" w="12383">
            <a:solidFill>
              <a:srgbClr val="E98A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DC9640-6D1E-4ACD-8468-E3444C6B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38300"/>
            <a:ext cx="3409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E98A2B"/>
                </a:solidFill>
              </a:defRPr>
            </a:pPr>
            <a:r>
              <a:rPr sz="938" b="1">
                <a:solidFill>
                  <a:srgbClr val="E98A2B"/>
                </a:solidFill>
              </a:rPr>
              <a:t>도마뱀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9913ee9cd444ce"/>
          <a:stretch xmlns:a="http://schemas.openxmlformats.org/drawingml/2006/main"/>
        </p:blipFill>
        <p:spPr>
          <a:xfrm xmlns:a="http://schemas.openxmlformats.org/drawingml/2006/main">
            <a:off x="8474897" y="1924050"/>
            <a:ext cx="2805056" cy="10668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12CAB4-F1DC-4224-A40E-53C689B7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48000"/>
            <a:ext cx="3409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5D6A75"/>
                </a:solidFill>
              </a:defRPr>
            </a:pPr>
            <a:r>
              <a:rPr sz="720" b="0">
                <a:solidFill>
                  <a:srgbClr val="5D6A75"/>
                </a:solidFill>
              </a:rPr>
              <a:t>rewind_lizard_motion_pilot_preview.mp4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B84E4C-CA19-485F-8FD9-A7FE1FE6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3638550" cy="1790700"/>
          </a:xfrm>
          <a:prstGeom xmlns:a="http://schemas.openxmlformats.org/drawingml/2006/main" prst="roundRect">
            <a:avLst>
              <a:gd name="adj" fmla="val 4255"/>
            </a:avLst>
          </a:prstGeom>
          <a:noFill xmlns:a="http://schemas.openxmlformats.org/drawingml/2006/main"/>
          <a:ln xmlns:a="http://schemas.openxmlformats.org/drawingml/2006/main" w="12383">
            <a:solidFill>
              <a:srgbClr val="D4473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F35FCD-CB6E-437A-B6FF-4A58A33B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76650"/>
            <a:ext cx="3409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D4473F"/>
                </a:solidFill>
              </a:defRPr>
            </a:pPr>
            <a:r>
              <a:rPr sz="938" b="1">
                <a:solidFill>
                  <a:srgbClr val="D4473F"/>
                </a:solidFill>
              </a:rPr>
              <a:t>거미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d09e187dc34885"/>
          <a:stretch xmlns:a="http://schemas.openxmlformats.org/drawingml/2006/main"/>
        </p:blipFill>
        <p:spPr>
          <a:xfrm xmlns:a="http://schemas.openxmlformats.org/drawingml/2006/main">
            <a:off x="1466082" y="3962400"/>
            <a:ext cx="1506487" cy="10668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6577F4-96F1-4B87-93D0-B77C2642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86350"/>
            <a:ext cx="3409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5D6A75"/>
                </a:solidFill>
              </a:defRPr>
            </a:pPr>
            <a:r>
              <a:rPr sz="720" b="0">
                <a:solidFill>
                  <a:srgbClr val="5D6A75"/>
                </a:solidFill>
              </a:rPr>
              <a:t>mineral_spider_motion_pilot_preview.mp4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4265CD-8805-40A9-819B-014D80FC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19500"/>
            <a:ext cx="3638550" cy="1790700"/>
          </a:xfrm>
          <a:prstGeom xmlns:a="http://schemas.openxmlformats.org/drawingml/2006/main" prst="roundRect">
            <a:avLst>
              <a:gd name="adj" fmla="val 4255"/>
            </a:avLst>
          </a:prstGeom>
          <a:noFill xmlns:a="http://schemas.openxmlformats.org/drawingml/2006/main"/>
          <a:ln xmlns:a="http://schemas.openxmlformats.org/drawingml/2006/main" w="12383">
            <a:solidFill>
              <a:srgbClr val="2B9B6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735A51-9221-4515-B0E3-CA5216CB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76650"/>
            <a:ext cx="3409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B9B6F"/>
                </a:solidFill>
              </a:defRPr>
            </a:pPr>
            <a:r>
              <a:rPr sz="938" b="1">
                <a:solidFill>
                  <a:srgbClr val="2B9B6F"/>
                </a:solidFill>
              </a:rPr>
              <a:t>산양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896b12ef2c439d"/>
          <a:stretch xmlns:a="http://schemas.openxmlformats.org/drawingml/2006/main"/>
        </p:blipFill>
        <p:spPr>
          <a:xfrm xmlns:a="http://schemas.openxmlformats.org/drawingml/2006/main">
            <a:off x="5045433" y="3962400"/>
            <a:ext cx="2005885" cy="10668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81C1C2-971B-46E8-A9C8-9DBBCDDB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86350"/>
            <a:ext cx="3409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20" b="0">
                <a:solidFill>
                  <a:srgbClr val="5D6A75"/>
                </a:solidFill>
              </a:defRPr>
            </a:pPr>
            <a:r>
              <a:rPr sz="720" b="0">
                <a:solidFill>
                  <a:srgbClr val="5D6A75"/>
                </a:solidFill>
              </a:rPr>
              <a:t>resonance_goral_motion_pilot_preview.mp4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45DAA5-8D78-4AC9-90E5-6BF8D8FC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1391900" cy="552450"/>
          </a:xfrm>
          <a:prstGeom xmlns:a="http://schemas.openxmlformats.org/drawingml/2006/main" prst="roundRect">
            <a:avLst>
              <a:gd name="adj" fmla="val 1379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2B9B6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2728C8-5BC6-47FB-AF9E-4F5C4B0F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40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2B9B6F"/>
                </a:solidFill>
              </a:defRPr>
            </a:pPr>
            <a:r>
              <a:rPr sz="1013" b="1">
                <a:solidFill>
                  <a:srgbClr val="2B9B6F"/>
                </a:solidFill>
              </a:rPr>
              <a:t>수량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8DFAD0-5A91-4790-8EB1-7EDB8BE6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72452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12B"/>
                </a:solidFill>
              </a:defRPr>
            </a:pPr>
            <a:r>
              <a:rPr sz="1013" b="1">
                <a:solidFill>
                  <a:srgbClr val="17212B"/>
                </a:solidFill>
              </a:rPr>
              <a:t>animated 5 · runtime 1× 5 · nearest 4× 5 · player preview는 SOURCE_BLOCKED로 생성 0</a:t>
            </a:r>
          </a:p>
        </p:txBody>
      </p:sp>
    </p:spTree>
    <p:extLst>
      <p:ext uri="{BB962C8B-B14F-4D97-AF65-F5344CB8AC3E}">
        <p14:creationId xmlns:p14="http://schemas.microsoft.com/office/powerpoint/2010/main" val="49733445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A687B7-A129-4DCF-A486-F9C37947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D7637-D83A-4666-8C58-FF5A17EB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12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2100" b="1">
                <a:solidFill>
                  <a:srgbClr val="17212B"/>
                </a:solidFill>
                <a:latin typeface="Noto Sans KR Thin"/>
                <a:ea typeface="Noto Sans KR Thin"/>
                <a:cs typeface="Noto Sans KR Thin"/>
              </a:rPr>
              <a:t>960×540 실제 맵 합성에서 박쥐와 도마뱀의 공격 진행이 분리된다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09A720-C2F4-480C-A1EC-D0927932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native 1× sprite · Ground Point · shadow · Telegraph · anchor · existing hit timestamp · HUD safe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FDA77-A44B-4CF5-8A8D-7B1DC3AA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2E3023-9959-43C1-B255-2C63FB03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12 · GAMEPLAY COMPOSITE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382299-5F91-47D1-948F-C52405BD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6E0AE-602A-4995-9BA8-9F2199F9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505450" cy="3619500"/>
          </a:xfrm>
          <a:prstGeom xmlns:a="http://schemas.openxmlformats.org/drawingml/2006/main" prst="roundRect">
            <a:avLst>
              <a:gd name="adj" fmla="val 2105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1473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D98A09-798C-451F-8F6F-6E8530A8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527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473E6"/>
                </a:solidFill>
              </a:defRPr>
            </a:pPr>
            <a:r>
              <a:rPr sz="938" b="1">
                <a:solidFill>
                  <a:srgbClr val="1473E6"/>
                </a:solidFill>
              </a:rPr>
              <a:t>BAT ATTACK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376708fab84a26"/>
          <a:srcRect xmlns:a="http://schemas.openxmlformats.org/drawingml/2006/main" l="0" t="2550" r="0" b="25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1866900"/>
            <a:ext cx="5353050" cy="2857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159DE3-F077-4C12-8E85-9D30F62F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527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D6A75"/>
                </a:solidFill>
              </a:defRPr>
            </a:pPr>
            <a:r>
              <a:rPr sz="765" b="0">
                <a:solidFill>
                  <a:srgbClr val="5D6A75"/>
                </a:solidFill>
              </a:rPr>
              <a:t>날개·귀 조준 → mouth-organ 공격 → hover recover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F516AE-5FB6-4D43-9EB4-CBB1ED16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5505450" cy="3619500"/>
          </a:xfrm>
          <a:prstGeom xmlns:a="http://schemas.openxmlformats.org/drawingml/2006/main" prst="roundRect">
            <a:avLst>
              <a:gd name="adj" fmla="val 2105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E98A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022E9C-915E-48B8-9923-002577E2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81150"/>
            <a:ext cx="527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E98A2B"/>
                </a:solidFill>
              </a:defRPr>
            </a:pPr>
            <a:r>
              <a:rPr sz="938" b="1">
                <a:solidFill>
                  <a:srgbClr val="E98A2B"/>
                </a:solidFill>
              </a:rPr>
              <a:t>LIZARD ATTACK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af5ea2b9f4497d"/>
          <a:srcRect xmlns:a="http://schemas.openxmlformats.org/drawingml/2006/main" l="0" t="2550" r="0" b="25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700" y="1866900"/>
            <a:ext cx="5353050" cy="28575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E7DCF5-073C-4BD0-84A5-C6B987AF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81550"/>
            <a:ext cx="527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D6A75"/>
                </a:solidFill>
              </a:defRPr>
            </a:pPr>
            <a:r>
              <a:rPr sz="765" b="0">
                <a:solidFill>
                  <a:srgbClr val="5D6A75"/>
                </a:solidFill>
              </a:rPr>
              <a:t>crouch → snout/foreleg lunge → 낮은 자세 recover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F92B4E-F175-427C-9267-ECA0AB91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53050"/>
            <a:ext cx="11391900" cy="552450"/>
          </a:xfrm>
          <a:prstGeom xmlns:a="http://schemas.openxmlformats.org/drawingml/2006/main" prst="roundRect">
            <a:avLst>
              <a:gd name="adj" fmla="val 1379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2B9B6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A9D946-97A3-4C4B-80CB-8C2971E2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2B9B6F"/>
                </a:solidFill>
              </a:defRPr>
            </a:pPr>
            <a:r>
              <a:rPr sz="1013" b="1">
                <a:solidFill>
                  <a:srgbClr val="2B9B6F"/>
                </a:solidFill>
              </a:rPr>
              <a:t>판정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B5CBE7-53B0-4D11-A37F-C677A2E9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1972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12B"/>
                </a:solidFill>
              </a:defRPr>
            </a:pPr>
            <a:r>
              <a:rPr sz="1013" b="1">
                <a:solidFill>
                  <a:srgbClr val="17212B"/>
                </a:solidFill>
              </a:rPr>
              <a:t>정지 이미지의 root 이동이 아니라 영상 내 연속 신체 프레임이 실제로 교체됨</a:t>
            </a:r>
          </a:p>
        </p:txBody>
      </p:sp>
    </p:spTree>
    <p:extLst>
      <p:ext uri="{BB962C8B-B14F-4D97-AF65-F5344CB8AC3E}">
        <p14:creationId xmlns:p14="http://schemas.microsoft.com/office/powerpoint/2010/main" val="379720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A687B7-A129-4DCF-A486-F9C37947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D7637-D83A-4666-8C58-FF5A17EB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12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2100" b="1">
                <a:solidFill>
                  <a:srgbClr val="17212B"/>
                </a:solidFill>
                <a:latin typeface="Noto Sans KR Thin"/>
                <a:ea typeface="Noto Sans KR Thin"/>
                <a:cs typeface="Noto Sans KR Thin"/>
              </a:rPr>
              <a:t>거미의 실 반동과 산양의 charge 무게가 같은 맵에서도 다른 리듬으로 읽힌다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09A720-C2F4-480C-A1EC-D0927932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기존 VFX 역할·공격 범위·AI·boss phase는 변경하지 않음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FDA77-A44B-4CF5-8A8D-7B1DC3AA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2E3023-9959-43C1-B255-2C63FB03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12 · GAMEPLAY COMPOSITE 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382299-5F91-47D1-948F-C52405BD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D2F11F-05D9-4C20-9C50-756BF5CF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505450" cy="3619500"/>
          </a:xfrm>
          <a:prstGeom xmlns:a="http://schemas.openxmlformats.org/drawingml/2006/main" prst="roundRect">
            <a:avLst>
              <a:gd name="adj" fmla="val 2105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D447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18FB0A-BE92-4D71-B304-0E044349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527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D4473F"/>
                </a:solidFill>
              </a:defRPr>
            </a:pPr>
            <a:r>
              <a:rPr sz="938" b="1">
                <a:solidFill>
                  <a:srgbClr val="D4473F"/>
                </a:solidFill>
              </a:rPr>
              <a:t>SPIDER ATTACK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73d27309b44cf4"/>
          <a:srcRect xmlns:a="http://schemas.openxmlformats.org/drawingml/2006/main" l="0" t="2550" r="0" b="25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1866900"/>
            <a:ext cx="5353050" cy="2857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EDECF2-4372-4D92-8B6C-61CC5AE5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527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D6A75"/>
                </a:solidFill>
              </a:defRPr>
            </a:pPr>
            <a:r>
              <a:rPr sz="765" b="0">
                <a:solidFill>
                  <a:srgbClr val="5D6A75"/>
                </a:solidFill>
              </a:rPr>
              <a:t>다리 접지 → spinneret 정렬 → thread recoil → 8다리 복귀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C15C6C-3470-4F8B-98AB-F27AD1F6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5505450" cy="3619500"/>
          </a:xfrm>
          <a:prstGeom xmlns:a="http://schemas.openxmlformats.org/drawingml/2006/main" prst="roundRect">
            <a:avLst>
              <a:gd name="adj" fmla="val 2105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2B9B6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BB415C-A0D2-4ACD-A639-4515A415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81150"/>
            <a:ext cx="527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B9B6F"/>
                </a:solidFill>
              </a:defRPr>
            </a:pPr>
            <a:r>
              <a:rPr sz="938" b="1">
                <a:solidFill>
                  <a:srgbClr val="2B9B6F"/>
                </a:solidFill>
              </a:rPr>
              <a:t>GORAL CHARGE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a72bdf0aaa4e90"/>
          <a:srcRect xmlns:a="http://schemas.openxmlformats.org/drawingml/2006/main" l="0" t="2550" r="0" b="25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700" y="1866900"/>
            <a:ext cx="5353050" cy="28575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B8C102-0950-4B9B-B64F-81A9A182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81550"/>
            <a:ext cx="527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5D6A75"/>
                </a:solidFill>
              </a:defRPr>
            </a:pPr>
            <a:r>
              <a:rPr sz="765" b="0">
                <a:solidFill>
                  <a:srgbClr val="5D6A75"/>
                </a:solidFill>
              </a:rPr>
              <a:t>굽·어깨 하강 → horn line → 전완 충격 흡수 → retreat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F47B1D-AA4D-47B9-8AC1-EF8524E5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53050"/>
            <a:ext cx="11391900" cy="552450"/>
          </a:xfrm>
          <a:prstGeom xmlns:a="http://schemas.openxmlformats.org/drawingml/2006/main" prst="roundRect">
            <a:avLst>
              <a:gd name="adj" fmla="val 1379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E98A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CBF131-41DF-4805-8E41-5A05F5A7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E98A2B"/>
                </a:solidFill>
              </a:defRPr>
            </a:pPr>
            <a:r>
              <a:rPr sz="1013" b="1">
                <a:solidFill>
                  <a:srgbClr val="E98A2B"/>
                </a:solidFill>
              </a:rPr>
              <a:t>누락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0B1060-C1BF-423A-B9BA-85550F55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1972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12B"/>
                </a:solidFill>
              </a:defRPr>
            </a:pPr>
            <a:r>
              <a:rPr sz="1013" b="1">
                <a:solidFill>
                  <a:srgbClr val="17212B"/>
                </a:solidFill>
              </a:rPr>
              <a:t>player_move_attack_pilot_960x540.mp4는 source blocker 때문에 의도적으로 생성하지 않음</a:t>
            </a:r>
          </a:p>
        </p:txBody>
      </p:sp>
    </p:spTree>
    <p:extLst>
      <p:ext uri="{BB962C8B-B14F-4D97-AF65-F5344CB8AC3E}">
        <p14:creationId xmlns:p14="http://schemas.microsoft.com/office/powerpoint/2010/main" val="3797209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1F504B-9DF7-4100-8BB1-B639B92B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84ECE-E3D6-4AA3-9279-115CE0ED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12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2100" b="1">
                <a:solidFill>
                  <a:srgbClr val="17212B"/>
                </a:solidFill>
                <a:latin typeface="Noto Sans KR Thin"/>
                <a:ea typeface="Noto Sans KR Thin"/>
                <a:cs typeface="Noto Sans KR Thin"/>
              </a:rPr>
              <a:t>canonical gameplay anchor는 고정하고 frame별 visual offset만 제안한다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EFABB-01E9-4C61-B22E-5A3B785E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실제 움직이는 입·주둥이·방적기관·뿔·굽에 VFX를 붙이기 위한 staging 후보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C2767-AE07-476D-8C71-D11D8208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F6772-E47D-42AC-84AD-74845362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13 · PER-FRAME ANCHOR OFFSET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12FD83-4F9E-4655-966C-F18BEB5D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066054-B3AA-40ED-8244-59451ACE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1342F9-9B06-4372-ABBC-EFC60AC4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3E6"/>
          </a:solidFill>
          <a:ln xmlns:a="http://schemas.openxmlformats.org/drawingml/2006/main" w="0">
            <a:solidFill>
              <a:srgbClr val="1473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70F62-FBA6-4071-AF4A-64907723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473E6"/>
                </a:solidFill>
              </a:defRPr>
            </a:pPr>
            <a:r>
              <a:rPr sz="1013" b="1">
                <a:solidFill>
                  <a:srgbClr val="1473E6"/>
                </a:solidFill>
              </a:rPr>
              <a:t>official anchor·Hurtbox·Ground Point 수정 0 · offset은 VFX presentation layer에만 적용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1771E-2BD4-49DF-BC1A-1C889F25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11391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2231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0372EC-073E-496B-9E35-04BA1CF8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038350"/>
            <a:ext cx="17716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23142"/>
                </a:solidFill>
              </a:defRPr>
            </a:pPr>
            <a:r>
              <a:rPr sz="825" b="1">
                <a:solidFill>
                  <a:srgbClr val="223142"/>
                </a:solidFill>
              </a:rPr>
              <a:t>대상 / sequence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2684FB-9F49-4393-B209-497A2049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038350"/>
            <a:ext cx="19145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23142"/>
                </a:solidFill>
              </a:defRPr>
            </a:pPr>
            <a:r>
              <a:rPr sz="825" b="1">
                <a:solidFill>
                  <a:srgbClr val="223142"/>
                </a:solidFill>
              </a:rPr>
              <a:t>canonical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92754F-FF43-48CC-84C6-F0901368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38350"/>
            <a:ext cx="2438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23142"/>
                </a:solidFill>
              </a:defRPr>
            </a:pPr>
            <a:r>
              <a:rPr sz="825" b="1">
                <a:solidFill>
                  <a:srgbClr val="223142"/>
                </a:solidFill>
              </a:rPr>
              <a:t>frame visual offset range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1D16E2-D73C-4EA7-84C6-49CF8BF7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38350"/>
            <a:ext cx="21526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23142"/>
                </a:solidFill>
              </a:defRPr>
            </a:pPr>
            <a:r>
              <a:rPr sz="825" b="1">
                <a:solidFill>
                  <a:srgbClr val="223142"/>
                </a:solidFill>
              </a:rPr>
              <a:t>flipX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150920-DB1D-482A-803B-8C0365DE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038350"/>
            <a:ext cx="24479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23142"/>
                </a:solidFill>
              </a:defRPr>
            </a:pPr>
            <a:r>
              <a:rPr sz="825" b="1">
                <a:solidFill>
                  <a:srgbClr val="223142"/>
                </a:solidFill>
              </a:rPr>
              <a:t>hit binding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747B80-3EA2-4AF0-8CAD-4A12FDD1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81275"/>
            <a:ext cx="11391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6DF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2757F9-E262-415B-B5BE-5578225C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590800"/>
            <a:ext cx="1771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473E6"/>
                </a:solidFill>
              </a:defRPr>
            </a:pPr>
            <a:r>
              <a:rPr sz="788" b="1">
                <a:solidFill>
                  <a:srgbClr val="1473E6"/>
                </a:solidFill>
              </a:rPr>
              <a:t>박쥐 / attack 1–4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E3C4D6-C008-4ABE-858B-3B228BB9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590800"/>
            <a:ext cx="19145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12B"/>
                </a:solidFill>
              </a:defRPr>
            </a:pPr>
            <a:r>
              <a:rPr sz="788" b="0">
                <a:solidFill>
                  <a:srgbClr val="17212B"/>
                </a:solidFill>
              </a:rPr>
              <a:t>mouth-organ (26,14)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4E2DAA-F406-482D-AD65-8BAC500C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90800"/>
            <a:ext cx="2438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12B"/>
                </a:solidFill>
              </a:defRPr>
            </a:pPr>
            <a:r>
              <a:rPr sz="788" b="0">
                <a:solidFill>
                  <a:srgbClr val="17212B"/>
                </a:solidFill>
              </a:rPr>
              <a:t>x −11..−10 / y +3..+4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D59851-3D0A-469A-802A-6441EE20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90800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12B"/>
                </a:solidFill>
              </a:defRPr>
            </a:pPr>
            <a:r>
              <a:rPr sz="788" b="0">
                <a:solidFill>
                  <a:srgbClr val="17212B"/>
                </a:solidFill>
              </a:rPr>
              <a:t>center mirror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A32F9D-FFE3-4688-AF93-612DA6DB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90800"/>
            <a:ext cx="2447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12B"/>
                </a:solidFill>
              </a:defRPr>
            </a:pPr>
            <a:r>
              <a:rPr sz="788" b="0">
                <a:solidFill>
                  <a:srgbClr val="17212B"/>
                </a:solidFill>
              </a:rPr>
              <a:t>frame 2 candidate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5502D7-A8A6-4443-BF84-DA18ABE0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24200"/>
            <a:ext cx="11391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6DF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07A7C3-E18D-44AB-903F-D1B8ADB9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133725"/>
            <a:ext cx="1771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473E6"/>
                </a:solidFill>
              </a:defRPr>
            </a:pPr>
            <a:r>
              <a:rPr sz="788" b="1">
                <a:solidFill>
                  <a:srgbClr val="1473E6"/>
                </a:solidFill>
              </a:rPr>
              <a:t>도마뱀 / attack 1–4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F25A11-31EB-4C89-8ABC-6B878C05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133725"/>
            <a:ext cx="19145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12B"/>
                </a:solidFill>
              </a:defRPr>
            </a:pPr>
            <a:r>
              <a:rPr sz="788" b="0">
                <a:solidFill>
                  <a:srgbClr val="17212B"/>
                </a:solidFill>
              </a:rPr>
              <a:t>snout (9,15)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B20095-14E6-4B1C-8121-E35D7B80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33725"/>
            <a:ext cx="2438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12B"/>
                </a:solidFill>
              </a:defRPr>
            </a:pPr>
            <a:r>
              <a:rPr sz="788" b="0">
                <a:solidFill>
                  <a:srgbClr val="17212B"/>
                </a:solidFill>
              </a:rPr>
              <a:t>x −4..+4 / y 0..+3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3579A7-2221-41AC-8B1A-7D88B18C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33725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12B"/>
                </a:solidFill>
              </a:defRPr>
            </a:pPr>
            <a:r>
              <a:rPr sz="788" b="0">
                <a:solidFill>
                  <a:srgbClr val="17212B"/>
                </a:solidFill>
              </a:rPr>
              <a:t>x=63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F85C8B-FDCE-4EFC-BB54-B625A20D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33725"/>
            <a:ext cx="2447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12B"/>
                </a:solidFill>
              </a:defRPr>
            </a:pPr>
            <a:r>
              <a:rPr sz="788" b="0">
                <a:solidFill>
                  <a:srgbClr val="17212B"/>
                </a:solidFill>
              </a:rPr>
              <a:t>frame 2 candidate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7958F8-01C7-4CA1-B4DC-747E379C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67125"/>
            <a:ext cx="11391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6DF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14C350-1BCB-4637-BB80-4D687A88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676650"/>
            <a:ext cx="1771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473E6"/>
                </a:solidFill>
              </a:defRPr>
            </a:pPr>
            <a:r>
              <a:rPr sz="788" b="1">
                <a:solidFill>
                  <a:srgbClr val="1473E6"/>
                </a:solidFill>
              </a:rPr>
              <a:t>거미 / deploy→attack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8F1ADD-C5B1-4B59-884D-4028BD8A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676650"/>
            <a:ext cx="19145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12B"/>
                </a:solidFill>
              </a:defRPr>
            </a:pPr>
            <a:r>
              <a:rPr sz="788" b="0">
                <a:solidFill>
                  <a:srgbClr val="17212B"/>
                </a:solidFill>
              </a:rPr>
              <a:t>thread A/B/C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5FCD1F-11BA-4061-959E-A8902B8F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76650"/>
            <a:ext cx="2438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12B"/>
                </a:solidFill>
              </a:defRPr>
            </a:pPr>
            <a:r>
              <a:rPr sz="788" b="0">
                <a:solidFill>
                  <a:srgbClr val="17212B"/>
                </a:solidFill>
              </a:rPr>
              <a:t>A x +35..45 / B +20..30 / C +5..15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18FC5C-44F1-4086-A5E8-13BDEE26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76650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12B"/>
                </a:solidFill>
              </a:defRPr>
            </a:pPr>
            <a:r>
              <a:rPr sz="788" b="0">
                <a:solidFill>
                  <a:srgbClr val="17212B"/>
                </a:solidFill>
              </a:rPr>
              <a:t>A↔C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386783-F76B-4FEA-8B92-D51B000F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76650"/>
            <a:ext cx="2447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12B"/>
                </a:solidFill>
              </a:defRPr>
            </a:pPr>
            <a:r>
              <a:rPr sz="788" b="0">
                <a:solidFill>
                  <a:srgbClr val="17212B"/>
                </a:solidFill>
              </a:rPr>
              <a:t>frame 3 candidate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FF7693-15F1-4303-B321-16ADF422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0050"/>
            <a:ext cx="11391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6DF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48A562-95B4-48BD-8940-723C546E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219575"/>
            <a:ext cx="1771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473E6"/>
                </a:solidFill>
              </a:defRPr>
            </a:pPr>
            <a:r>
              <a:rPr sz="788" b="1">
                <a:solidFill>
                  <a:srgbClr val="1473E6"/>
                </a:solidFill>
              </a:rPr>
              <a:t>산양 / charge 1–5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DA9AD8-2121-4819-BEB2-C6CF878B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219575"/>
            <a:ext cx="19145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12B"/>
                </a:solidFill>
              </a:defRPr>
            </a:pPr>
            <a:r>
              <a:rPr sz="788" b="0">
                <a:solidFill>
                  <a:srgbClr val="17212B"/>
                </a:solidFill>
              </a:rPr>
              <a:t>horn-root + forehooves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478CFC-97FA-4856-9FE7-F8E270DC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19575"/>
            <a:ext cx="2438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12B"/>
                </a:solidFill>
              </a:defRPr>
            </a:pPr>
            <a:r>
              <a:rPr sz="788" b="0">
                <a:solidFill>
                  <a:srgbClr val="17212B"/>
                </a:solidFill>
              </a:rPr>
              <a:t>horn x −41..−32 / y +26..+32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6C14E7-8431-461A-A2BC-4FF79EE8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19575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12B"/>
                </a:solidFill>
              </a:defRPr>
            </a:pPr>
            <a:r>
              <a:rPr sz="788" b="0">
                <a:solidFill>
                  <a:srgbClr val="17212B"/>
                </a:solidFill>
              </a:rPr>
              <a:t>fixed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0921EE-FF99-46C8-84B8-226E75B5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219575"/>
            <a:ext cx="2447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12B"/>
                </a:solidFill>
              </a:defRPr>
            </a:pPr>
            <a:r>
              <a:rPr sz="788" b="0">
                <a:solidFill>
                  <a:srgbClr val="17212B"/>
                </a:solidFill>
              </a:rPr>
              <a:t>frame 4 candidate</a:t>
            </a:r>
          </a:p>
        </p:txBody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be87a892cd4884"/>
          <a:stretch xmlns:a="http://schemas.openxmlformats.org/drawingml/2006/main"/>
        </p:blipFill>
        <p:spPr>
          <a:xfrm xmlns:a="http://schemas.openxmlformats.org/drawingml/2006/main">
            <a:off x="1143000" y="4914900"/>
            <a:ext cx="495300" cy="34290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CA642F-2183-44B0-A2C1-A6EC1FDA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73E6"/>
                </a:solidFill>
              </a:defRPr>
            </a:pPr>
            <a:r>
              <a:rPr sz="788" b="1">
                <a:solidFill>
                  <a:srgbClr val="1473E6"/>
                </a:solidFill>
              </a:rPr>
              <a:t>F2 candidate</a:t>
            </a:r>
          </a:p>
        </p:txBody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bf8855461240e6"/>
          <a:stretch xmlns:a="http://schemas.openxmlformats.org/drawingml/2006/main"/>
        </p:blipFill>
        <p:spPr>
          <a:xfrm xmlns:a="http://schemas.openxmlformats.org/drawingml/2006/main">
            <a:off x="3829050" y="4914900"/>
            <a:ext cx="685800" cy="38100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9A22ADA-1129-43B3-B18D-6C63928A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810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E98A2B"/>
                </a:solidFill>
              </a:defRPr>
            </a:pPr>
            <a:r>
              <a:rPr sz="788" b="1">
                <a:solidFill>
                  <a:srgbClr val="E98A2B"/>
                </a:solidFill>
              </a:rPr>
              <a:t>F2 candidate</a:t>
            </a:r>
          </a:p>
        </p:txBody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7b311849084e84"/>
          <a:stretch xmlns:a="http://schemas.openxmlformats.org/drawingml/2006/main"/>
        </p:blipFill>
        <p:spPr>
          <a:xfrm xmlns:a="http://schemas.openxmlformats.org/drawingml/2006/main">
            <a:off x="6515100" y="4914900"/>
            <a:ext cx="990600" cy="838200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759E731-3607-43BD-980C-5133693B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810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D4473F"/>
                </a:solidFill>
              </a:defRPr>
            </a:pPr>
            <a:r>
              <a:rPr sz="788" b="1">
                <a:solidFill>
                  <a:srgbClr val="D4473F"/>
                </a:solidFill>
              </a:rPr>
              <a:t>F3 candidate</a:t>
            </a:r>
          </a:p>
        </p:txBody>
      </p:sp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5c6661ea6745a8"/>
          <a:stretch xmlns:a="http://schemas.openxmlformats.org/drawingml/2006/main"/>
        </p:blipFill>
        <p:spPr>
          <a:xfrm xmlns:a="http://schemas.openxmlformats.org/drawingml/2006/main">
            <a:off x="9412333" y="4914900"/>
            <a:ext cx="1101634" cy="876300"/>
          </a:xfrm>
          <a:prstGeom xmlns:a="http://schemas.openxmlformats.org/drawingml/2006/main" prst="rect">
            <a:avLst/>
          </a:prstGeom>
        </p:spPr>
      </p:pic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05D03C3-3792-4E81-99CE-4931AFF8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810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B9B6F"/>
                </a:solidFill>
              </a:defRPr>
            </a:pPr>
            <a:r>
              <a:rPr sz="788" b="1">
                <a:solidFill>
                  <a:srgbClr val="2B9B6F"/>
                </a:solidFill>
              </a:rPr>
              <a:t>F4 candidate</a:t>
            </a:r>
          </a:p>
        </p:txBody>
      </p:sp>
    </p:spTree>
    <p:extLst>
      <p:ext uri="{BB962C8B-B14F-4D97-AF65-F5344CB8AC3E}">
        <p14:creationId xmlns:p14="http://schemas.microsoft.com/office/powerpoint/2010/main" val="189916158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1F504B-9DF7-4100-8BB1-B639B92B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84ECE-E3D6-4AA3-9279-115CE0ED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12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2100" b="1">
                <a:solidFill>
                  <a:srgbClr val="17212B"/>
                </a:solidFill>
                <a:latin typeface="Noto Sans KR Thin"/>
                <a:ea typeface="Noto Sans KR Thin"/>
                <a:cs typeface="Noto Sans KR Thin"/>
              </a:rPr>
              <a:t>v1의 한 장 재배치에서 frame별 실루엣 변화로 바뀌었다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EFABB-01E9-4C61-B22E-5A3B785E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각 대상의 REVIEW_ONLY strip과 새 sequence contact를 같은 행에서 비교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C2767-AE07-476D-8C71-D11D8208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F6772-E47D-42AC-84AD-74845362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14 · BEFORE / AFTER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12FD83-4F9E-4655-966C-F18BEB5D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1FBEB-EF4A-41FF-A2E1-277A205B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D6A75"/>
                </a:solidFill>
              </a:defRPr>
            </a:pPr>
            <a:r>
              <a:rPr sz="938" b="1">
                <a:solidFill>
                  <a:srgbClr val="5D6A75"/>
                </a:solidFill>
              </a:rPr>
              <a:t>대상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234008-D802-4CC1-9B3C-1A40B465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4859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D4473F"/>
                </a:solidFill>
              </a:defRPr>
            </a:pPr>
            <a:r>
              <a:rPr sz="938" b="1">
                <a:solidFill>
                  <a:srgbClr val="D4473F"/>
                </a:solidFill>
              </a:rPr>
              <a:t>V1 STATIC STRIP · REVIEW_ONLY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A4BCB4-8AE3-4C67-BD0D-4E665EF2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4859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B9B6F"/>
                </a:solidFill>
              </a:defRPr>
            </a:pPr>
            <a:r>
              <a:rPr sz="938" b="1">
                <a:solidFill>
                  <a:srgbClr val="2B9B6F"/>
                </a:solidFill>
              </a:rPr>
              <a:t>NEW REAL FRAME SEQUENCE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E8509D-1761-4DE6-943F-DDCF35D5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104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AFC1"/>
                </a:solidFill>
              </a:defRPr>
            </a:pPr>
            <a:r>
              <a:rPr sz="975" b="1">
                <a:solidFill>
                  <a:srgbClr val="18AFC1"/>
                </a:solidFill>
              </a:rPr>
              <a:t>칼새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130aada44941cf"/>
          <a:stretch xmlns:a="http://schemas.openxmlformats.org/drawingml/2006/main"/>
        </p:blipFill>
        <p:spPr>
          <a:xfrm xmlns:a="http://schemas.openxmlformats.org/drawingml/2006/main">
            <a:off x="2573655" y="1847850"/>
            <a:ext cx="2682240" cy="628650"/>
          </a:xfrm>
          <a:prstGeom xmlns:a="http://schemas.openxmlformats.org/drawingml/2006/main" prst="rect">
            <a:avLst/>
          </a:prstGeom>
        </p:spPr>
      </p:pic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c4eda17da24e88"/>
          <a:stretch xmlns:a="http://schemas.openxmlformats.org/drawingml/2006/main"/>
        </p:blipFill>
        <p:spPr>
          <a:xfrm xmlns:a="http://schemas.openxmlformats.org/drawingml/2006/main">
            <a:off x="7554942" y="1847850"/>
            <a:ext cx="2739965" cy="6286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4B3BD-F28D-4244-9604-9D3C69AB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038350"/>
            <a:ext cx="9906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F5EE"/>
          </a:solidFill>
          <a:ln xmlns:a="http://schemas.openxmlformats.org/drawingml/2006/main" w="9525">
            <a:solidFill>
              <a:srgbClr val="2B9B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60B5C8-306C-4E37-9639-BE2F4724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203835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B9B6F"/>
                </a:solidFill>
              </a:defRPr>
            </a:pPr>
            <a:r>
              <a:rPr sz="863" b="1">
                <a:solidFill>
                  <a:srgbClr val="2B9B6F"/>
                </a:solidFill>
              </a:rPr>
              <a:t>IMPROVED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D3F234-DFFC-4421-A2CC-673288F1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28900"/>
            <a:ext cx="104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73E6"/>
                </a:solidFill>
              </a:defRPr>
            </a:pPr>
            <a:r>
              <a:rPr sz="975" b="1">
                <a:solidFill>
                  <a:srgbClr val="1473E6"/>
                </a:solidFill>
              </a:rPr>
              <a:t>박쥐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01d463b8b24102"/>
          <a:stretch xmlns:a="http://schemas.openxmlformats.org/drawingml/2006/main"/>
        </p:blipFill>
        <p:spPr>
          <a:xfrm xmlns:a="http://schemas.openxmlformats.org/drawingml/2006/main">
            <a:off x="2573655" y="2628900"/>
            <a:ext cx="2682240" cy="628650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2d3b0d33604061"/>
          <a:stretch xmlns:a="http://schemas.openxmlformats.org/drawingml/2006/main"/>
        </p:blipFill>
        <p:spPr>
          <a:xfrm xmlns:a="http://schemas.openxmlformats.org/drawingml/2006/main">
            <a:off x="8257495" y="2628900"/>
            <a:ext cx="1334861" cy="6286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55BABE-7796-42C4-8F43-0C605858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819400"/>
            <a:ext cx="9906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F5EE"/>
          </a:solidFill>
          <a:ln xmlns:a="http://schemas.openxmlformats.org/drawingml/2006/main" w="9525">
            <a:solidFill>
              <a:srgbClr val="2B9B6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B247F4-CB4E-4170-AFCE-A16DFEAD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281940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B9B6F"/>
                </a:solidFill>
              </a:defRPr>
            </a:pPr>
            <a:r>
              <a:rPr sz="863" b="1">
                <a:solidFill>
                  <a:srgbClr val="2B9B6F"/>
                </a:solidFill>
              </a:rPr>
              <a:t>IMPROVED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58011C-DC3C-4CB7-B0B3-3083E11C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9950"/>
            <a:ext cx="104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98A2B"/>
                </a:solidFill>
              </a:defRPr>
            </a:pPr>
            <a:r>
              <a:rPr sz="975" b="1">
                <a:solidFill>
                  <a:srgbClr val="E98A2B"/>
                </a:solidFill>
              </a:rPr>
              <a:t>도마뱀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c5c00a49404fe2"/>
          <a:stretch xmlns:a="http://schemas.openxmlformats.org/drawingml/2006/main"/>
        </p:blipFill>
        <p:spPr>
          <a:xfrm xmlns:a="http://schemas.openxmlformats.org/drawingml/2006/main">
            <a:off x="2573655" y="3409950"/>
            <a:ext cx="2682240" cy="628650"/>
          </a:xfrm>
          <a:prstGeom xmlns:a="http://schemas.openxmlformats.org/drawingml/2006/main" prst="rect">
            <a:avLst/>
          </a:prstGeom>
        </p:spPr>
      </p:pic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6e59f5c6394055"/>
          <a:stretch xmlns:a="http://schemas.openxmlformats.org/drawingml/2006/main"/>
        </p:blipFill>
        <p:spPr>
          <a:xfrm xmlns:a="http://schemas.openxmlformats.org/drawingml/2006/main">
            <a:off x="8098435" y="3409950"/>
            <a:ext cx="1652980" cy="6286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C84669-6541-43EC-BEBA-419FE009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600450"/>
            <a:ext cx="9906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F5EE"/>
          </a:solidFill>
          <a:ln xmlns:a="http://schemas.openxmlformats.org/drawingml/2006/main" w="9525">
            <a:solidFill>
              <a:srgbClr val="2B9B6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C28045-8D2E-4441-AA53-2726C6FF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60045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B9B6F"/>
                </a:solidFill>
              </a:defRPr>
            </a:pPr>
            <a:r>
              <a:rPr sz="863" b="1">
                <a:solidFill>
                  <a:srgbClr val="2B9B6F"/>
                </a:solidFill>
              </a:rPr>
              <a:t>IMPROVED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1AA7D1-3C1C-423E-A5D0-E48E0A35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104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4473F"/>
                </a:solidFill>
              </a:defRPr>
            </a:pPr>
            <a:r>
              <a:rPr sz="975" b="1">
                <a:solidFill>
                  <a:srgbClr val="D4473F"/>
                </a:solidFill>
              </a:rPr>
              <a:t>거미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7f572956364b27"/>
          <a:stretch xmlns:a="http://schemas.openxmlformats.org/drawingml/2006/main"/>
        </p:blipFill>
        <p:spPr>
          <a:xfrm xmlns:a="http://schemas.openxmlformats.org/drawingml/2006/main">
            <a:off x="2573655" y="4191000"/>
            <a:ext cx="2682240" cy="628650"/>
          </a:xfrm>
          <a:prstGeom xmlns:a="http://schemas.openxmlformats.org/drawingml/2006/main" prst="rect">
            <a:avLst/>
          </a:prstGeom>
        </p:spPr>
      </p:pic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de1bcac6fb4655"/>
          <a:stretch xmlns:a="http://schemas.openxmlformats.org/drawingml/2006/main"/>
        </p:blipFill>
        <p:spPr>
          <a:xfrm xmlns:a="http://schemas.openxmlformats.org/drawingml/2006/main">
            <a:off x="8481049" y="4191000"/>
            <a:ext cx="887751" cy="62865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188CB9-80FE-4ECE-9AC2-423F53E5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381500"/>
            <a:ext cx="9906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F5EE"/>
          </a:solidFill>
          <a:ln xmlns:a="http://schemas.openxmlformats.org/drawingml/2006/main" w="9525">
            <a:solidFill>
              <a:srgbClr val="2B9B6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E760FC-A58A-4F9C-9A96-EC147FD1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438150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B9B6F"/>
                </a:solidFill>
              </a:defRPr>
            </a:pPr>
            <a:r>
              <a:rPr sz="863" b="1">
                <a:solidFill>
                  <a:srgbClr val="2B9B6F"/>
                </a:solidFill>
              </a:rPr>
              <a:t>IMPROVED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F649F8-5ECF-4FAA-87F9-A066A08A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72050"/>
            <a:ext cx="104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9B6F"/>
                </a:solidFill>
              </a:defRPr>
            </a:pPr>
            <a:r>
              <a:rPr sz="975" b="1">
                <a:solidFill>
                  <a:srgbClr val="2B9B6F"/>
                </a:solidFill>
              </a:rPr>
              <a:t>산양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8e19635251437b"/>
          <a:stretch xmlns:a="http://schemas.openxmlformats.org/drawingml/2006/main"/>
        </p:blipFill>
        <p:spPr>
          <a:xfrm xmlns:a="http://schemas.openxmlformats.org/drawingml/2006/main">
            <a:off x="2573655" y="4972050"/>
            <a:ext cx="2682240" cy="628650"/>
          </a:xfrm>
          <a:prstGeom xmlns:a="http://schemas.openxmlformats.org/drawingml/2006/main" prst="rect">
            <a:avLst/>
          </a:prstGeom>
        </p:spPr>
      </p:pic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c913060bc442b5"/>
          <a:stretch xmlns:a="http://schemas.openxmlformats.org/drawingml/2006/main"/>
        </p:blipFill>
        <p:spPr>
          <a:xfrm xmlns:a="http://schemas.openxmlformats.org/drawingml/2006/main">
            <a:off x="8333905" y="4972050"/>
            <a:ext cx="1182039" cy="6286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F4D880-8E92-409A-AE92-EAC73045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5162550"/>
            <a:ext cx="9906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F5EE"/>
          </a:solidFill>
          <a:ln xmlns:a="http://schemas.openxmlformats.org/drawingml/2006/main" w="9525">
            <a:solidFill>
              <a:srgbClr val="2B9B6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0C6968-1858-412E-B3E7-581D594F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516255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B9B6F"/>
                </a:solidFill>
              </a:defRPr>
            </a:pPr>
            <a:r>
              <a:rPr sz="863" b="1">
                <a:solidFill>
                  <a:srgbClr val="2B9B6F"/>
                </a:solidFill>
              </a:rPr>
              <a:t>IMPROVED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9CE838-52E8-4EDE-B409-8E5AFEC2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552450"/>
          </a:xfrm>
          <a:prstGeom xmlns:a="http://schemas.openxmlformats.org/drawingml/2006/main" prst="roundRect">
            <a:avLst>
              <a:gd name="adj" fmla="val 1379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2B9B6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DDB404-4703-48E2-B8FE-A0DC4764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864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2B9B6F"/>
                </a:solidFill>
              </a:defRPr>
            </a:pPr>
            <a:r>
              <a:rPr sz="1013" b="1">
                <a:solidFill>
                  <a:srgbClr val="2B9B6F"/>
                </a:solidFill>
              </a:rPr>
              <a:t>차이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E3C3AB-4CC4-4C8D-B5E8-6326826C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87692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12B"/>
                </a:solidFill>
              </a:defRPr>
            </a:pPr>
            <a:r>
              <a:rPr sz="1013" b="1">
                <a:solidFill>
                  <a:srgbClr val="17212B"/>
                </a:solidFill>
              </a:rPr>
              <a:t>프레임 번호마다 실루엣·관절·무게 중심 중 최소 하나가 실제로 변함</a:t>
            </a:r>
          </a:p>
        </p:txBody>
      </p:sp>
    </p:spTree>
    <p:extLst>
      <p:ext uri="{BB962C8B-B14F-4D97-AF65-F5344CB8AC3E}">
        <p14:creationId xmlns:p14="http://schemas.microsoft.com/office/powerpoint/2010/main" val="189916158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1F504B-9DF7-4100-8BB1-B639B92B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84ECE-E3D6-4AA3-9279-115CE0ED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12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2100" b="1">
                <a:solidFill>
                  <a:srgbClr val="17212B"/>
                </a:solidFill>
                <a:latin typeface="Noto Sans KR Thin"/>
                <a:ea typeface="Noto Sans KR Thin"/>
                <a:cs typeface="Noto Sans KR Thin"/>
              </a:rPr>
              <a:t>자동·수동 검증은 PASS 881 / FAIL 0이다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EFABB-01E9-4C61-B22E-5A3B785E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creature pilot PASS · 전체 CONDITIONAL PASS · engine staging은 아직 미실행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C2767-AE07-476D-8C71-D11D8208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F6772-E47D-42AC-84AD-74845362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15 · VALIDATION &amp; ENGINE 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12FD83-4F9E-4655-966C-F18BEB5D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11A351-6324-4E21-991C-D8444FD1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F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BD0E40-A7D7-4A59-B02C-35E46159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76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9B6F"/>
          </a:solidFill>
          <a:ln xmlns:a="http://schemas.openxmlformats.org/drawingml/2006/main" w="0">
            <a:solidFill>
              <a:srgbClr val="2B9B6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297BEC-3EED-442C-8285-F87184D4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2B9B6F"/>
                </a:solidFill>
              </a:defRPr>
            </a:pPr>
            <a:r>
              <a:rPr sz="1013" b="1">
                <a:solidFill>
                  <a:srgbClr val="2B9B6F"/>
                </a:solidFill>
              </a:rPr>
              <a:t>PNG·loop·silhouette·preview·gameplay composite·locked scope를 패키지 기준으로 검사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5D584B-BFA5-4633-A158-05698830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5505450" cy="3181350"/>
          </a:xfrm>
          <a:prstGeom xmlns:a="http://schemas.openxmlformats.org/drawingml/2006/main" prst="roundRect">
            <a:avLst>
              <a:gd name="adj" fmla="val 2395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2B9B6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64188B-ECD8-4812-88AF-5EFB75B3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2001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B9B6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FA934-97E7-4D49-9C95-14C972AE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5265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B9B6F"/>
                </a:solidFill>
              </a:defRPr>
            </a:pPr>
            <a:r>
              <a:rPr sz="863" b="1">
                <a:solidFill>
                  <a:srgbClr val="2B9B6F"/>
                </a:solidFill>
              </a:rPr>
              <a:t>VERIFIED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F45D2-7B1E-4B32-BA34-090ED187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171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9B6F"/>
                </a:solidFill>
              </a:defRPr>
            </a:pPr>
            <a:r>
              <a:rPr sz="975" b="1">
                <a:solidFill>
                  <a:srgbClr val="2B9B6F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2F8A5E-55C5-4711-9781-3FD2F250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</a:defRPr>
            </a:pPr>
            <a:r>
              <a:rPr sz="975" b="0">
                <a:solidFill>
                  <a:srgbClr val="17212B"/>
                </a:solidFill>
              </a:rPr>
              <a:t>99 RGBA 8-bit · alpha 0/255 · 투명 모서리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329701-CEF8-4FDB-ABB8-B4029CA4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171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9B6F"/>
                </a:solidFill>
              </a:defRPr>
            </a:pPr>
            <a:r>
              <a:rPr sz="975" b="1">
                <a:solidFill>
                  <a:srgbClr val="2B9B6F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883C41-A370-48E8-B9A3-F50F0DB2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</a:defRPr>
            </a:pPr>
            <a:r>
              <a:rPr sz="975" b="0">
                <a:solidFill>
                  <a:srgbClr val="17212B"/>
                </a:solidFill>
              </a:rPr>
              <a:t>완전 중복 0 · translation-only 인접 frame 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686972-4F30-4D7F-92C8-73911FA3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171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9B6F"/>
                </a:solidFill>
              </a:defRPr>
            </a:pPr>
            <a:r>
              <a:rPr sz="975" b="1">
                <a:solidFill>
                  <a:srgbClr val="2B9B6F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A9FC2F-BA6D-4DA4-B67C-C1715779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</a:defRPr>
            </a:pPr>
            <a:r>
              <a:rPr sz="975" b="0">
                <a:solidFill>
                  <a:srgbClr val="17212B"/>
                </a:solidFill>
              </a:rPr>
              <a:t>silhouette XOR/union ≥ 0.01 · palette drift 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C89494-9FE2-46C7-B6D6-8F10CB94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24300"/>
            <a:ext cx="171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9B6F"/>
                </a:solidFill>
              </a:defRPr>
            </a:pPr>
            <a:r>
              <a:rPr sz="975" b="1">
                <a:solidFill>
                  <a:srgbClr val="2B9B6F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1E0D23-D294-47BF-B934-9B6AEAA2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</a:defRPr>
            </a:pPr>
            <a:r>
              <a:rPr sz="975" b="0">
                <a:solidFill>
                  <a:srgbClr val="17212B"/>
                </a:solidFill>
              </a:rPr>
              <a:t>idle/move Ground Point 종료 delta 0px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5E02B2-1227-49A8-9DAC-6DC855DB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171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9B6F"/>
                </a:solidFill>
              </a:defRPr>
            </a:pPr>
            <a:r>
              <a:rPr sz="975" b="1">
                <a:solidFill>
                  <a:srgbClr val="2B9B6F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0C699C-C545-47B9-9DF6-F4BBED65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</a:defRPr>
            </a:pPr>
            <a:r>
              <a:rPr sz="975" b="0">
                <a:solidFill>
                  <a:srgbClr val="17212B"/>
                </a:solidFill>
              </a:rPr>
              <a:t>1× 작은 생물 판독 PASS · 4× nearest PASS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71CCAB-04FD-4E10-9E2F-0273C7FD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81200"/>
            <a:ext cx="5505450" cy="3181350"/>
          </a:xfrm>
          <a:prstGeom xmlns:a="http://schemas.openxmlformats.org/drawingml/2006/main" prst="roundRect">
            <a:avLst>
              <a:gd name="adj" fmla="val 2395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E98A2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CF02AE-4D39-4370-A66D-79FBE306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2650"/>
            <a:ext cx="13525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8A2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DB7E4B-2E44-4C6C-97A2-1C5E451D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526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E98A2B"/>
                </a:solidFill>
              </a:defRPr>
            </a:pPr>
            <a:r>
              <a:rPr sz="863" b="1">
                <a:solidFill>
                  <a:srgbClr val="E98A2B"/>
                </a:solidFill>
              </a:rPr>
              <a:t>ENGINE VERIFY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4F9E9A-F908-43B3-9255-DFEEC088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09850"/>
            <a:ext cx="171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8A2B"/>
                </a:solidFill>
              </a:defRPr>
            </a:pPr>
            <a:r>
              <a:rPr sz="975" b="1">
                <a:solidFill>
                  <a:srgbClr val="E98A2B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A0F1A4-8FFF-4DCF-9C5D-4A90286D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098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</a:defRPr>
            </a:pPr>
            <a:r>
              <a:rPr sz="975" b="0">
                <a:solidFill>
                  <a:srgbClr val="17212B"/>
                </a:solidFill>
              </a:rPr>
              <a:t>alias 해제 여부와 official manifest 반입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FB85AA-C86D-4B25-BFFF-3B39A9E8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48000"/>
            <a:ext cx="171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8A2B"/>
                </a:solidFill>
              </a:defRPr>
            </a:pPr>
            <a:r>
              <a:rPr sz="975" b="1">
                <a:solidFill>
                  <a:srgbClr val="E98A2B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23177E-EBBD-4990-A526-5E4E54F8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480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</a:defRPr>
            </a:pPr>
            <a:r>
              <a:rPr sz="975" b="0">
                <a:solidFill>
                  <a:srgbClr val="17212B"/>
                </a:solidFill>
              </a:rPr>
              <a:t>original/flipX body·Hurtbox·visual offset overlay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B952D9-FCBD-4011-B146-AFE09F8F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86150"/>
            <a:ext cx="171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8A2B"/>
                </a:solidFill>
              </a:defRPr>
            </a:pPr>
            <a:r>
              <a:rPr sz="975" b="1">
                <a:solidFill>
                  <a:srgbClr val="E98A2B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FF517F-798E-440F-AEE8-1B3C5302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86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</a:defRPr>
            </a:pPr>
            <a:r>
              <a:rPr sz="975" b="0">
                <a:solidFill>
                  <a:srgbClr val="17212B"/>
                </a:solidFill>
              </a:rPr>
              <a:t>실제 hit timestamp에 접촉 frame candidate 매핑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FB12F3-6ABC-4B23-8525-FE46F89F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24300"/>
            <a:ext cx="171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8A2B"/>
                </a:solidFill>
              </a:defRPr>
            </a:pPr>
            <a:r>
              <a:rPr sz="975" b="1">
                <a:solidFill>
                  <a:srgbClr val="E98A2B"/>
                </a:solidFill>
              </a:rPr>
              <a:t>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D37C42-1087-428C-9ABB-97980487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243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</a:defRPr>
            </a:pPr>
            <a:r>
              <a:rPr sz="975" b="0">
                <a:solidFill>
                  <a:srgbClr val="17212B"/>
                </a:solidFill>
              </a:rPr>
              <a:t>VFX visible origin 1px 이내 부착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2EE551-BF59-4E86-BD3D-5DB4BC6A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62450"/>
            <a:ext cx="171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98A2B"/>
                </a:solidFill>
              </a:defRPr>
            </a:pPr>
            <a:r>
              <a:rPr sz="975" b="1">
                <a:solidFill>
                  <a:srgbClr val="E98A2B"/>
                </a:solidFill>
              </a:rPr>
              <a:t>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37D454-453D-418C-B0C7-A17461BE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624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</a:defRPr>
            </a:pPr>
            <a:r>
              <a:rPr sz="975" b="0">
                <a:solidFill>
                  <a:srgbClr val="17212B"/>
                </a:solidFill>
              </a:rPr>
              <a:t>player runtime/key-pose source 연결 후 별도 재개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039BE2-47BA-4900-BEBF-94411407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11391900" cy="552450"/>
          </a:xfrm>
          <a:prstGeom xmlns:a="http://schemas.openxmlformats.org/drawingml/2006/main" prst="roundRect">
            <a:avLst>
              <a:gd name="adj" fmla="val 1379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E98A2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5AF4DC-3B97-4ADC-B1A6-5ABF51F1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864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E98A2B"/>
                </a:solidFill>
              </a:defRPr>
            </a:pPr>
            <a:r>
              <a:rPr sz="1013" b="1">
                <a:solidFill>
                  <a:srgbClr val="E98A2B"/>
                </a:solidFill>
              </a:rPr>
              <a:t>현재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A486C5-1851-483A-8E46-DD979C75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7687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12B"/>
                </a:solidFill>
              </a:defRPr>
            </a:pPr>
            <a:r>
              <a:rPr sz="1013" b="1">
                <a:solidFill>
                  <a:srgbClr val="17212B"/>
                </a:solidFill>
              </a:rPr>
              <a:t>ACT 1 creature proof 승인 가능 · 공식 엔진 반입 완료로 보고하지 않음</a:t>
            </a:r>
          </a:p>
        </p:txBody>
      </p:sp>
    </p:spTree>
    <p:extLst>
      <p:ext uri="{BB962C8B-B14F-4D97-AF65-F5344CB8AC3E}">
        <p14:creationId xmlns:p14="http://schemas.microsoft.com/office/powerpoint/2010/main" val="189916158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1F504B-9DF7-4100-8BB1-B639B92B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84ECE-E3D6-4AA3-9279-115CE0ED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12B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2100" b="1">
                <a:solidFill>
                  <a:srgbClr val="17212B"/>
                </a:solidFill>
                <a:latin typeface="Noto Sans KR Thin"/>
                <a:ea typeface="Noto Sans KR Thin"/>
                <a:cs typeface="Noto Sans KR Thin"/>
              </a:rPr>
              <a:t>ACT 2·3 확대는 이 파일럿 승인과 엔진 staging 검증 뒤에만 진행한다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EFABB-01E9-4C61-B22E-5A3B785E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1050" b="0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같은 동물 문법·frame gate·anchor offset 검증을 개체별로 반복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C2767-AE07-476D-8C71-D11D8208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F6772-E47D-42AC-84AD-74845362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16 · EXPANSION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12FD83-4F9E-4655-966C-F18BEB5D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defRPr>
            </a:pPr>
            <a:r>
              <a:rPr sz="675" b="1">
                <a:solidFill>
                  <a:srgbClr val="5D6A75"/>
                </a:solidFill>
                <a:latin typeface="Noto Sans KR Thin"/>
                <a:ea typeface="Noto Sans KR Thin"/>
                <a:cs typeface="Noto Sans KR Thin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ED202-8E91-4014-9E44-32C92111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600700" cy="1504950"/>
          </a:xfrm>
          <a:prstGeom xmlns:a="http://schemas.openxmlformats.org/drawingml/2006/main" prst="roundRect">
            <a:avLst>
              <a:gd name="adj" fmla="val 506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2B9B6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082DA-9D8C-4E66-9DCD-10B3B41D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71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9B6F"/>
                </a:solidFill>
              </a:defRPr>
            </a:pPr>
            <a:r>
              <a:rPr sz="1125" b="1">
                <a:solidFill>
                  <a:srgbClr val="2B9B6F"/>
                </a:solidFill>
              </a:rPr>
              <a:t>ACT 1 CREATURE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AD81BA-3DF3-40D5-A5C9-1D192F66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752600"/>
            <a:ext cx="1809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B9B6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CFC021-EA27-43FD-ACAB-C6076CE1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7526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B9B6F"/>
                </a:solidFill>
              </a:defRPr>
            </a:pPr>
            <a:r>
              <a:rPr sz="863" b="1">
                <a:solidFill>
                  <a:srgbClr val="2B9B6F"/>
                </a:solidFill>
              </a:rPr>
              <a:t>READY FOR STAGING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AA8AB-A66B-485B-AEF6-F53EB42C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7212B"/>
                </a:solidFill>
              </a:defRPr>
            </a:pPr>
            <a:r>
              <a:rPr sz="1013" b="1">
                <a:solidFill>
                  <a:srgbClr val="17212B"/>
                </a:solidFill>
              </a:rPr>
              <a:t>99 frame proof · 1×/4×/MP4 PASS</a:t>
            </a:r>
          </a:p>
          <a:p xmlns:a="http://schemas.openxmlformats.org/drawingml/2006/main">
            <a:pPr algn="ctr">
              <a:defRPr sz="1013" b="1">
                <a:solidFill>
                  <a:srgbClr val="17212B"/>
                </a:solidFill>
              </a:defRPr>
            </a:pPr>
            <a:r>
              <a:rPr sz="1013" b="1">
                <a:solidFill>
                  <a:srgbClr val="17212B"/>
                </a:solidFill>
              </a:rPr>
              <a:t>기존 gameplay lock 유지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6C1E4B-0945-443C-A6C3-14F3C6CF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600700" cy="1504950"/>
          </a:xfrm>
          <a:prstGeom xmlns:a="http://schemas.openxmlformats.org/drawingml/2006/main" prst="roundRect">
            <a:avLst>
              <a:gd name="adj" fmla="val 506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E98A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9E211B-4DAE-44B0-AE03-415F3F86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98A2B"/>
                </a:solidFill>
              </a:defRPr>
            </a:pPr>
            <a:r>
              <a:rPr sz="1125" b="1">
                <a:solidFill>
                  <a:srgbClr val="E98A2B"/>
                </a:solidFill>
              </a:rPr>
              <a:t>PLAYER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A1D1FA-B0CA-4514-80D3-DDC9CC42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752600"/>
            <a:ext cx="1809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8A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BB6A6A-B46F-44E3-8F89-D0E69615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7526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E98A2B"/>
                </a:solidFill>
              </a:defRPr>
            </a:pPr>
            <a:r>
              <a:rPr sz="863" b="1">
                <a:solidFill>
                  <a:srgbClr val="E98A2B"/>
                </a:solidFill>
              </a:rPr>
              <a:t>SOURCE_BLOCKED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7B7F64-47E5-49D0-B41F-567166B4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0980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7212B"/>
                </a:solidFill>
              </a:defRPr>
            </a:pPr>
            <a:r>
              <a:rPr sz="1013" b="1">
                <a:solidFill>
                  <a:srgbClr val="17212B"/>
                </a:solidFill>
              </a:rPr>
              <a:t>실제 state PNG·8방향·key pose 원본</a:t>
            </a:r>
          </a:p>
          <a:p xmlns:a="http://schemas.openxmlformats.org/drawingml/2006/main">
            <a:pPr algn="ctr">
              <a:defRPr sz="1013" b="1">
                <a:solidFill>
                  <a:srgbClr val="17212B"/>
                </a:solidFill>
              </a:defRPr>
            </a:pPr>
            <a:r>
              <a:rPr sz="1013" b="1">
                <a:solidFill>
                  <a:srgbClr val="17212B"/>
                </a:solidFill>
              </a:rPr>
              <a:t>단검 손·attack anchor 필요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02D0E0-6795-4E12-8BF3-3E970E90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5600700" cy="1504950"/>
          </a:xfrm>
          <a:prstGeom xmlns:a="http://schemas.openxmlformats.org/drawingml/2006/main" prst="roundRect">
            <a:avLst>
              <a:gd name="adj" fmla="val 506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D4473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F7BD35-12C7-4E50-AC27-05ABFCE2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861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4473F"/>
                </a:solidFill>
              </a:defRPr>
            </a:pPr>
            <a:r>
              <a:rPr sz="1125" b="1">
                <a:solidFill>
                  <a:srgbClr val="D4473F"/>
                </a:solidFill>
              </a:rPr>
              <a:t>ACT 2·3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0E749B-1699-4414-ADF7-4649CE9C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467100"/>
            <a:ext cx="1809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473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9FDCE9-E915-4D3C-8762-AF808120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4671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D4473F"/>
                </a:solidFill>
              </a:defRPr>
            </a:pPr>
            <a:r>
              <a:rPr sz="863" b="1">
                <a:solidFill>
                  <a:srgbClr val="D4473F"/>
                </a:solidFill>
              </a:rPr>
              <a:t>HOLD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780732-D1D4-4D85-9FE0-277B6CAF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2430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7212B"/>
                </a:solidFill>
              </a:defRPr>
            </a:pPr>
            <a:r>
              <a:rPr sz="1013" b="1">
                <a:solidFill>
                  <a:srgbClr val="17212B"/>
                </a:solidFill>
              </a:rPr>
              <a:t>파일럿 승인 전 frame 확장 금지</a:t>
            </a:r>
          </a:p>
          <a:p xmlns:a="http://schemas.openxmlformats.org/drawingml/2006/main">
            <a:pPr algn="ctr">
              <a:defRPr sz="1013" b="1">
                <a:solidFill>
                  <a:srgbClr val="17212B"/>
                </a:solidFill>
              </a:defRPr>
            </a:pPr>
            <a:r>
              <a:rPr sz="1013" b="1">
                <a:solidFill>
                  <a:srgbClr val="17212B"/>
                </a:solidFill>
              </a:rPr>
              <a:t>정적 alias 판정 재사용 금지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3A5F49-BB2F-497A-A761-E64FF654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5600700" cy="1504950"/>
          </a:xfrm>
          <a:prstGeom xmlns:a="http://schemas.openxmlformats.org/drawingml/2006/main" prst="roundRect">
            <a:avLst>
              <a:gd name="adj" fmla="val 506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1473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98D807-DD7E-40A9-9894-C0711978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861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3E6"/>
                </a:solidFill>
              </a:defRPr>
            </a:pPr>
            <a:r>
              <a:rPr sz="1125" b="1">
                <a:solidFill>
                  <a:srgbClr val="1473E6"/>
                </a:solidFill>
              </a:rPr>
              <a:t>NEXT GATE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245095-3B7B-4629-9EC9-9A1C9DA8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467100"/>
            <a:ext cx="1809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73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E94082-A8C5-4EE4-8989-E6EC64D8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4671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473E6"/>
                </a:solidFill>
              </a:defRPr>
            </a:pPr>
            <a:r>
              <a:rPr sz="863" b="1">
                <a:solidFill>
                  <a:srgbClr val="1473E6"/>
                </a:solidFill>
              </a:rPr>
              <a:t>ENGINE APPLY QA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851E33-FB2E-46E7-84EC-79198F94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2430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7212B"/>
                </a:solidFill>
              </a:defRPr>
            </a:pPr>
            <a:r>
              <a:rPr sz="1013" b="1">
                <a:solidFill>
                  <a:srgbClr val="17212B"/>
                </a:solidFill>
              </a:rPr>
              <a:t>alias candidate staging · flipX · hit timestamp</a:t>
            </a:r>
          </a:p>
          <a:p xmlns:a="http://schemas.openxmlformats.org/drawingml/2006/main">
            <a:pPr algn="ctr">
              <a:defRPr sz="1013" b="1">
                <a:solidFill>
                  <a:srgbClr val="17212B"/>
                </a:solidFill>
              </a:defRPr>
            </a:pPr>
            <a:r>
              <a:rPr sz="1013" b="1">
                <a:solidFill>
                  <a:srgbClr val="17212B"/>
                </a:solidFill>
              </a:rPr>
              <a:t>VFX origin · recover GP 검증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15C0F9-4ABB-496C-9AEA-E3E0E6DA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552450"/>
          </a:xfrm>
          <a:prstGeom xmlns:a="http://schemas.openxmlformats.org/drawingml/2006/main" prst="roundRect">
            <a:avLst>
              <a:gd name="adj" fmla="val 1379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E98A2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7CD9B6-E398-402A-8835-2CF6A28B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959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E98A2B"/>
                </a:solidFill>
              </a:defRPr>
            </a:pPr>
            <a:r>
              <a:rPr sz="1013" b="1">
                <a:solidFill>
                  <a:srgbClr val="E98A2B"/>
                </a:solidFill>
              </a:rPr>
              <a:t>최종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45D8D2-52AC-4D50-97D6-EA30AAAD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8637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12B"/>
                </a:solidFill>
              </a:defRPr>
            </a:pPr>
            <a:r>
              <a:rPr sz="1013" b="1">
                <a:solidFill>
                  <a:srgbClr val="17212B"/>
                </a:solidFill>
              </a:rPr>
              <a:t>CONDITIONAL PASS · ACT 1 creature 확대 근거 확보 / player와 ACT 2·3은 승인 조건 대기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3CCDB1-5887-4E15-9181-1313A9E8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24550"/>
            <a:ext cx="11391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473E6"/>
                </a:solidFill>
              </a:defRPr>
            </a:pPr>
            <a:r>
              <a:rPr sz="938" b="1">
                <a:solidFill>
                  <a:srgbClr val="1473E6"/>
                </a:solidFill>
              </a:rPr>
              <a:t>다음 작업 범위: PLAYER_SOURCE_LINK + ACT1_ENGINE_STAGING_QA</a:t>
            </a:r>
          </a:p>
        </p:txBody>
      </p:sp>
    </p:spTree>
    <p:extLst>
      <p:ext uri="{BB962C8B-B14F-4D97-AF65-F5344CB8AC3E}">
        <p14:creationId xmlns:p14="http://schemas.microsoft.com/office/powerpoint/2010/main" val="1899161583"/>
      </p:ext>
    </p:extLst>
  </p:cSld>
</p:sld>
</file>

<file path=ppt/theme/theme1.xml><?xml version="1.0" encoding="utf-8"?>
<a:theme xmlns:a="http://schemas.openxmlformats.org/drawingml/2006/main" name="ChatGPT">
  <a:themeElements>
    <a:clrScheme name="UNMAEK Visual Review">
      <a:dk1>
        <a:srgbClr val="000000"/>
      </a:dk1>
      <a:lt1>
        <a:srgbClr val="FFFFFF"/>
      </a:lt1>
      <a:dk2>
        <a:srgbClr val="111418"/>
      </a:dk2>
      <a:lt2>
        <a:srgbClr val="EDEDED"/>
      </a:lt2>
      <a:accent1>
        <a:srgbClr val="3D8DFF"/>
      </a:accent1>
      <a:accent2>
        <a:srgbClr val="6DCBF4"/>
      </a:accent2>
      <a:accent3>
        <a:srgbClr val="2C8A64"/>
      </a:accent3>
      <a:accent4>
        <a:srgbClr val="D88149"/>
      </a:accent4>
      <a:accent5>
        <a:srgbClr val="7C6FA8"/>
      </a:accent5>
      <a:accent6>
        <a:srgbClr val="72A99D"/>
      </a:accent6>
      <a:hlink>
        <a:srgbClr val="3D8DFF"/>
      </a:hlink>
      <a:folHlink>
        <a:srgbClr val="7C6FA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UNMAEK Visual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2026-08-05T09:03:14.4400000Z</dcterms:created>
  <dcterms:modified xsi:type="dcterms:W3CDTF">2026-08-05T09:03:14.4400000Z</dcterms:modified>
</coreProperties>
</file>